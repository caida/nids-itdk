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10"/>
    <p:sldId id="259" r:id="rId4"/>
    <p:sldId id="260" r:id="rId11"/>
    <p:sldId id="261" r:id="rId5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14"/>
    <p:sldId id="274" r:id="rId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16"/>
    <p:sldId id="283" r:id="rId17"/>
    <p:sldId id="284" r:id="rId18"/>
    <p:sldId id="285" r:id="rId19"/>
    <p:sldId id="286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6.xml"/><Relationship Id="rId7" Type="http://schemas.openxmlformats.org/officeDocument/2006/relationships/slide" Target="slides/slide19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4" Type="http://schemas.openxmlformats.org/officeDocument/2006/relationships/slide" Target="slides/slide18.xml"/><Relationship Id="rId16" Type="http://schemas.openxmlformats.org/officeDocument/2006/relationships/slide" Target="slides/slide27.xml"/><Relationship Id="rId17" Type="http://schemas.openxmlformats.org/officeDocument/2006/relationships/slide" Target="slides/slide28.xml"/><Relationship Id="rId18" Type="http://schemas.openxmlformats.org/officeDocument/2006/relationships/slide" Target="slides/slide29.xml"/><Relationship Id="rId19" Type="http://schemas.openxmlformats.org/officeDocument/2006/relationships/slide" Target="slides/slide30.xml"/><Relationship Id="rId20" Type="http://schemas.openxmlformats.org/officeDocument/2006/relationships/slide" Target="slides/slide3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plenary. Frame for the hour: last week was the control plane (who announces routes); today is the data plane (which routers carry packets, and how we map them). Two arcs: traceroute mechanics, then how CAIDA industrializes traceroute into the ITDK. Thursday's infrastructure hour covers the database and query mechanics for the nids-itdk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Re-orient on the ten blocks. We are at block 5: traceroute, topology, cables. Blocks 1-4 gave the AS-level view; today we go to the router level. Block 6 (geolocation) gets a preview at the end of this deck and returns in full in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one: the measurement primitive. Everything in the ITDK is built out of the mechanism in the next six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AS definition briefly (Week 1 material; AS Rank at asrank.caida.org is the refresher pointer). The new move: zooming inside the AS cloud. Define node and link here — the whole week uses these two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numbers are real: &gt;2M interfaces from MIDAR's published scale, five tables in the module's Postgres schema, 19 ASes in Task 4, and the 2026 release loaded in the class database. Never inflate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Week 3. Keep it to two minutes: control plane established, measurement infrastructure established, and the deliberately open question — announcements are promises, not hardware. Today we measure the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sit for a beat. The point: unlike a road network, there is no authoritative blueprint. The rest of the hour is one long answer to this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one-slide summary of part two. Limits alert matters: the ITDK is a lower bound on the real topology — backup links, unprobed regions, and MPLS tunnels are all invisible. Say 'lower bound'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at the start of Week 5. Interpretation questions (Q1.c, Q2.b, Q4) carry the weight — paragraphs tied to their own query output, not link dumps. Thursday's session is effectively assignment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standard close. Emphasize step 2: Thursday is not optional filler — the schema walkthrough is where the assignment gets tractable. Mattermost for anything blocking before then.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raw ITDK file formats and the glossary. Not covered live; the deck stands alone for catch-up viewers.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Self-study reference for anyone touching raw releases; the class database makes it optional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advanced terms for this week's tooling and pipeline; general networking terms intentionally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A-hero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A-div0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A-c-as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border.png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ttl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hops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limits.pn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output.png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hostnames.png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subnet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-div02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ark.png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alias.png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ipid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files.png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placeholder.png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hoiho.png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maxmind.png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disagree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-div03.png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image" Target="../media/A-c-module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hyperlink" Target="https://e5e63ac0-78ba-409f-a0d9-b6457d67f9bd.claudeusercontent.com/cdn-cgi/l/email-protec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A-app-files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1428750"/>
            <a:ext cx="8801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1955800"/>
            <a:ext cx="8241030" cy="1553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850" spc="-8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Router-level Internet topology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238250" y="3757017"/>
            <a:ext cx="8241030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traceroute reveals routers one TTL at a time — and the ITDK turns millions of traces into a queryable map of the Internet.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38250" y="7626350"/>
            <a:ext cx="2478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7988300"/>
            <a:ext cx="247869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7 Jul 2026 · 12:00 PT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158357" y="7626350"/>
            <a:ext cx="18953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58357" y="7988300"/>
            <a:ext cx="189533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 claffy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48140" y="7626350"/>
            <a:ext cx="52527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MENTORS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48140" y="7988300"/>
            <a:ext cx="5252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Ricky Mok · Bradley Huffaker · Matthew Luckie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90090" y="7626350"/>
            <a:ext cx="29430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CONTACT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90090" y="7988300"/>
            <a:ext cx="29430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Ma</a:t>
            </a:r>
            <a:endParaRPr lang="en-US" sz="1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8572500"/>
            <a:ext cx="926207" cy="91440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957" y="857250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9857" y="8893175"/>
            <a:ext cx="627460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NSF ESCALATE project · OAC-2519416</a:t>
            </a:r>
            <a:endParaRPr lang="en-US" sz="1800" dirty="0"/>
          </a:p>
        </p:txBody>
      </p:sp>
      <p:pic>
        <p:nvPicPr>
          <p:cNvPr id="900" name="A-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1619250"/>
            <a:ext cx="7239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building blocks — you are here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54150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454150" y="3071614"/>
            <a:ext cx="26397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structure &amp; ASNs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54930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58320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4658320" y="3071614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at scale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46591" y="2284214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862491" y="2500114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7862491" y="3071614"/>
            <a:ext cx="26398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Registries: WHOIS / IRR / RPKI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50861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066761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1066761" y="3071614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relationships &amp; cones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55030" y="2284214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270931" y="2500114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4270931" y="3071614"/>
            <a:ext cx="26398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Traceroute, topology, cables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8250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54150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454150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42420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58320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4658320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telescope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46591" y="5749032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862491" y="5964932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7862491" y="6536432"/>
            <a:ext cx="28192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fusion (IYP)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850861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066761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1066761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forensics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055030" y="5749032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4270931" y="5964932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50" dirty="0"/>
          </a:p>
        </p:txBody>
      </p:sp>
      <p:sp>
        <p:nvSpPr>
          <p:cNvPr id="34" name="Text 32"/>
          <p:cNvSpPr/>
          <p:nvPr/>
        </p:nvSpPr>
        <p:spPr>
          <a:xfrm>
            <a:off x="14270931" y="6536432"/>
            <a:ext cx="28192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SDSC hackathon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8250" y="9251950"/>
            <a:ext cx="173926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1–8 build one block at a time; weeks 9–10 integrate them into a full forensic pipeline.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· RECAP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5068292"/>
            <a:ext cx="10767060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C2C8D2"/>
              </a:buClr>
              <a:buFont typeface="Arial"/>
              <a:buChar char="▪"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is the control plane: ASes announce prefixes and pick routes by policy, not by distance.</a:t>
            </a:r>
            <a:endParaRPr lang="en-US" sz="21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C2C8D2"/>
              </a:buClr>
              <a:buFont typeface="Arial"/>
              <a:buChar char="▪"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RouteViews and RIPE RIS collectors let us watch those announcements at global scale.</a:t>
            </a:r>
            <a:endParaRPr lang="en-US" sz="21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C2C8D2"/>
              </a:buClr>
              <a:buFont typeface="Arial"/>
              <a:buChar char="▪"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the AS view says who routes traffic — but where is the hardware that carries it?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96750" y="4668639"/>
            <a:ext cx="4953000" cy="2490986"/>
          </a:xfrm>
          <a:prstGeom prst="roundRect">
            <a:avLst>
              <a:gd name="adj" fmla="val 3824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 lIns="406401" rIns="406401" tIns="406400" bIns="406400" wrap="square">
            <a:spAutoFit/>
          </a:bodyPr>
          <a:p>
            <a:pPr algn="l" indent="0" marL="0">
              <a:buNone/>
            </a:pPr>
            <a:r>
              <a:rPr lang="en-US" sz="1800" b="1" spc="180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BUILDS ON IT</a:t>
            </a:r>
            <a:endParaRPr lang="en-US" sz="1800" dirty="0"/>
          </a:p>
          <a:p>
            <a:pPr algn="l"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2325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we drop one level: from which ASes announce prefixes to which routers move the packets.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spc="-3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packets to paths: traceroute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hack that lets any host discover the routers on its forward path</a:t>
            </a:r>
            <a:endParaRPr lang="en-US" sz="2550" dirty="0"/>
          </a:p>
        </p:txBody>
      </p:sp>
      <p:pic>
        <p:nvPicPr>
          <p:cNvPr id="900" name="A-di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3419674"/>
            <a:ext cx="146685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3965774"/>
            <a:ext cx="13735050" cy="1766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300" spc="-94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Internet has no map and no owner. How do you draw one anyway?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238250" y="6036866"/>
            <a:ext cx="107918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registry lists the routers or the links between them — every map must be measured into existence.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NETWORK ANATOMY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 is a network of routers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system is one operator's network — UCSD is AS7377, Telstra is AS4637 — built from many routers forwarding packets.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routers connect only to routers of the same AS; border routers have a neighbor in another AS.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told us how ASes exchange routes; it says nothing about the routers that implement the exchange.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unit of analysis is the node (a router) and the link (an observed adjacency between two).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two ASes, their internal routers, and the border routers that join them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NETWORK ANATOMY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routers are where networks touch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border router belongs to one AS while at least one of its link neighbors belongs to a different AS.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packet that crosses an AS boundary passes through a pair of border routers — the physical interconnection.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these pairs, and working out where they sit, is exactly what this week's module does at Internet scale.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the boundary pair: one router in each AS, one link between them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b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THE MECHANISM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Internet cannot trace its own paths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has no built-in way to report the path a packet takes — traceroute is a hack, not a protocol feature.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IPv4 header carries a TTL (time to live); each router decrements it to stop packets looping forever.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TTL = 0 the router discards the packet and sends an ICMP “time exceeded” error back to the source.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error names its sender — a router reveals one of its interface addresses by complaining.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the TTL field of the IPv4 header — decremented at every hop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t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THE MECHANISM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the TTL, collect the errors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probe with TTL = 1: the first router's error reveals hop 1. TTL = 2 reveals hop 2, and so on.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the destination answers — the sequence of error senders is the forward path, one IP per hop.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scamper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probing engine behind CAIDA's Ark, automates this toward millions of destinations.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three probes, three errors, three hops recovered in order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h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THE MECHANISM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traceroute cannot see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path only: the reverse path is usually different and stays invisible from this vantage point.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Routers are not obliged to reply — a silent hop shows up as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*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and leaves a gap in the path.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interface has its own IP: two traces through one router can report two different addresses.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gaps drive the ITDK's design — placeholder nodes, alias resolution, and many vantage points.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gaps in a single trace — the problems the ITDK must repair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lim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READING OUTPUT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trace: New Zealand to UCSD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Sixteen hops from a home DSL line in Auckland to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sysnet.ucsd.edu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each line is one router interface.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latency jump from 14 ms to 139 ms at hop 5 is the trans-Pacific submarine cable crossing.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hostnames, not the IPs, carry most of the human-readable signal — decoded on the next slide.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traceroute -q 1 sysnet.ucsd.edu — sixteen hops, abridged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READING OUTPUT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Hostnames are operator annotations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Operators name interfaces with structure: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tauc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= Telstra Auckland,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losa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= Los Angeles.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Link capacities leak too: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300g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= 300 Gb/s,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fourhundredge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= a 400 GbE interface.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PTR (reverse-DNS) records, set by hand — informative when fresh, misleading when stale (part two).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the same trace: city codes and link speeds embedded in PTR names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hostna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· READING OUTPUT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address do you see at the border?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two ends of an inter-AS link share one small subnet, typically a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/30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IP/CIDR refresher: Week 1 notes.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 supplies the block (often the provider), so a border router can answer with an address from its neighbor's space.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Consequence: mapping IP → AS by BGP origin can misattribute border routers —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bdrmapIT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exists to fix exactly this.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a /30 shared across the boundary: the neighbor's block on your router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sub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spc="-3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million traceroutes to the ITDK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 resolution, operator inference, and geolocation turn raw paths into an annotated router graph</a:t>
            </a:r>
            <a:endParaRPr lang="en-US" sz="2550" dirty="0"/>
          </a:p>
        </p:txBody>
      </p:sp>
      <p:pic>
        <p:nvPicPr>
          <p:cNvPr id="900" name="A-di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DATA COLLECTION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Macroscopic discovery: probe from everywhere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CAIDA's Ark platform runs traceroute campaigns from vantage points worldwide toward every routed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/24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vantage point sees one tree of forward paths; many vantage points see the mesh between them.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output (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warts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files) is post-processed into the Internet Topology Data Kit — the ITDK — released 1–2 times a year.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many vantage points, millions of destinations, overlapping trees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ALIAS RESOLUTION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addresses, one router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physical router has one IP per interface — traces entering different sides report different addresses.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Alias resolution groups the interface IPs that belong to one chassis into a single node, e.g.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N1967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this step and you double-count routers and invent links — every ITDK node is the product of this grouping.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three observed IPs collapse into one node after alias resolution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ALIAS RESOLUTION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MIDAR's trick: the IP-ID side channel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routers stamp every packet's IP-ID field from one central counter, whichever interface replies.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two candidate addresses in alternation: if the IP-IDs interleave in one rising sequence, one router.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MIDAR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runs this test at Internet scale — more than 2 million interfaces resolved per release.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deeper: the MIDAR paper and Hoiho alias work are linked from the module's optional reading.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interleaved IP-IDs betray a shared counter — one router, two names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ip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ITDK release is built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238250" y="4801692"/>
            <a:ext cx="853535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 vantage points traceroute toward every routed /24. MIDAR and iffinder collapse interface addresses into routers; bdrmapIT assigns each router an operator AS; Hoiho and Maxmind attach locations. The annotated graph ships as the ITDK.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38250" y="5822653"/>
            <a:ext cx="8286750" cy="1165820"/>
          </a:xfrm>
          <a:prstGeom prst="rect">
            <a:avLst/>
          </a:prstGeom>
          <a:solidFill>
            <a:srgbClr val="F8F9FA"/>
          </a:solidFill>
          <a:ln w="12700">
            <a:solidFill>
              <a:srgbClr val="BE4228"/>
            </a:solidFill>
          </a:ln>
        </p:spPr>
        <p:txBody>
          <a:bodyPr lIns="330200" rIns="330200" tIns="228600" bIns="228600" wrap="square">
            <a:spAutoFit/>
          </a:bodyPr>
          <a:p>
            <a:pPr algn="l" indent="0" marL="0">
              <a:buNone/>
            </a:pPr>
            <a:r>
              <a:rPr lang="en-US" sz="1800" b="1" spc="144" kern="0" dirty="0">
                <a:solidFill>
                  <a:srgbClr val="BE4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LIMITS</a:t>
            </a:r>
            <a:endParaRPr lang="en-US" sz="1800" dirty="0"/>
          </a:p>
          <a:p>
            <a:pPr algn="l"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Traceroute-observed only — unseen links stay unseen.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191750" y="376465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191750" y="449490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191750" y="376465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191750" y="3764657"/>
            <a:ext cx="44450" cy="736600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7043400" y="3764657"/>
            <a:ext cx="9525" cy="736600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21951" y="3980557"/>
            <a:ext cx="3213878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35829" y="3980557"/>
            <a:ext cx="3213879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 (scamper)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848850" y="4577457"/>
            <a:ext cx="7543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191750" y="493940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191750" y="566965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191750" y="493940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191750" y="4939407"/>
            <a:ext cx="44450" cy="736600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7043400" y="4939407"/>
            <a:ext cx="9525" cy="736600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521951" y="5155307"/>
            <a:ext cx="32275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49546" y="5155307"/>
            <a:ext cx="3227596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traceroutes.warts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48850" y="5752207"/>
            <a:ext cx="7543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0191750" y="611415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191750" y="684440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191750" y="6114157"/>
            <a:ext cx="68580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191750" y="6114157"/>
            <a:ext cx="44450" cy="736600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7043400" y="6114157"/>
            <a:ext cx="9525" cy="736600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521951" y="6330057"/>
            <a:ext cx="3193300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715251" y="6330057"/>
            <a:ext cx="3193301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midar+bdrmapit+hoiho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48850" y="6926957"/>
            <a:ext cx="7543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0191750" y="7288907"/>
            <a:ext cx="6858000" cy="736600"/>
          </a:xfrm>
          <a:prstGeom prst="roundRect">
            <a:avLst>
              <a:gd name="adj" fmla="val 10345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483851" y="7504807"/>
            <a:ext cx="3226072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3709923" y="7504807"/>
            <a:ext cx="3226073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2026 release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ITDK, in figures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341364"/>
            <a:ext cx="3752850" cy="228600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81150" y="2932906"/>
            <a:ext cx="33737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81150" y="3713956"/>
            <a:ext cx="3373755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interfaces resolved by MIDAR per release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57800" y="2341364"/>
            <a:ext cx="3752850" cy="228600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00700" y="2932906"/>
            <a:ext cx="33737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600700" y="3713956"/>
            <a:ext cx="3373755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tables carry the graph in this module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77350" y="2341364"/>
            <a:ext cx="3752850" cy="228600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20250" y="2932906"/>
            <a:ext cx="33737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620250" y="3713956"/>
            <a:ext cx="3373755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ASes cross-analyzed in Task 3's heatmap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296900" y="2341364"/>
            <a:ext cx="3752850" cy="2286000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639800" y="2932906"/>
            <a:ext cx="33737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3639800" y="3713956"/>
            <a:ext cx="3373755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ITDK release year behind this module's database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8250" y="5027414"/>
            <a:ext cx="146685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 of querying can touch the whole measured Internet — these figures set the scale of what you will work with.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THE RELEASE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 a raw ITDK release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every router, listed as the set of interface addresses inferred to belong to it.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links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inferred adjacencies between nodes, from consecutive traceroute hops.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nodes.as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and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nodes.geo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the operator AS and the location annotation for each node.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dns-names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PTR hostnames per interface; Thursday's database serves all five relationally.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five flat files, one annotated graph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THE RELEASE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nodes: mapping the silent routers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hop that never answers still exists — the ITDK inserts a placeholder node so the path stays connected.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Placeholders get synthetic addresses in reserved space (e.g.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224.0.x.x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no aliases, no AS, no location.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Aliases cannot be resolved between silent routers, so one real router may appear as many placeholder nodes.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them naively corrupts degree and distance analysis — handling strategies: Thursday's session.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A — * — B: the silent hop becomes a synthetic node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placeh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GEOLOCATION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1 — Hoiho reads the hostname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embed location hints in PTR names: IATA codes (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lax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ord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city abbreviations.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Hoiho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learns each operator's naming convention and converts a hostname into a city-level location.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PTR record is current, hostname geolocation is typically accurate to the city.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catch: PTR records are maintained by hand — they can outlive the router's move to another city.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xe-0-0-0.cr1.lax01.alter.net → Los Angeles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hoi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GEOLOCATION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2 — Maxmind reads the registry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Maxmind maps an IP to the location its address block is registered to (ARIN, RIPE, APNIC records).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carriers register huge blocks centrally — so a router's IP often resolves to corporate headquarters.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per-PoP record, an entire /16 can land on one HQ city, thousands of km from the hardware.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the registry says headquarters; the router may sit elsewhere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maxm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· GEOLOCATION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two signals disagree, investigate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→ confidence. Disagreement by hundreds of km → one signal is wrong, and which one is the finding.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hostname: the PTR encodes where the router used to be; the registry reflects the current assignment.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fallback: the registry parks the block at headquarters; the hostname correctly names the PoP.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module the disagreement shows up as distance — a large Level3–Netflix link distance in Task 1 usually means a geolocation error, not a long cable.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same node, two cities — the disagreement is the finding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disa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spc="-3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module this week: nids-itdk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tasks against a live ITDK database — query mechanics on Thursday</a:t>
            </a:r>
            <a:endParaRPr lang="en-US" sz="2550" dirty="0"/>
          </a:p>
        </p:txBody>
      </p:sp>
      <p:pic>
        <p:nvPicPr>
          <p:cNvPr id="900" name="A-div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· NIDS-ITDK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tasks, one skill arc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33375" marL="333375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find every router link between Level3 and Netflix, and map where the two networks peer.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identify who China Unicom connects to on the US West Coast, using AS data and hostnames.</a:t>
            </a:r>
            <a:endParaRPr lang="en-US" sz="2400" dirty="0"/>
          </a:p>
          <a:p>
            <a:pPr algn="l" indent="-333375" marL="333375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cross 18 major ASes in one heatmap and read the economics of interconnection from it.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find links → identify peers → see structure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c-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4 · DUE BEGINNING OF WEEK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nids-itdk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238250" y="2246114"/>
            <a:ext cx="11086148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the 2026 ITDK in PostgreSQL: find cross-AS router links, geolocate their endpoints, and interpret the interconnection patterns you uncover.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8250" y="3278584"/>
            <a:ext cx="112433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14325" marL="314325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Introduction and Datasets pages of the module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1–2: cross-AS links, distances, peer identification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the 18-AS interconnection heatmap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all notebook tasks and questions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573000" y="2246114"/>
            <a:ext cx="4476750" cy="7278886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934950" y="2608064"/>
            <a:ext cx="41281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MILESTONE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934950" y="3008114"/>
            <a:ext cx="386543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nids-itdk module end to end is this week’s milestone.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934950" y="4272855"/>
            <a:ext cx="375285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934950" y="4587180"/>
            <a:ext cx="41281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34950" y="4987230"/>
            <a:ext cx="386543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github.com/CAIDA/nids-itdk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WEEK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week, in five steps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2246114"/>
            <a:ext cx="112433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-314325" marL="314325">
              <a:lnSpc>
                <a:spcPct val="135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nids-itdk notebook locally and start Tasks 1–2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to Thursday's infrastructure hour (9 Jul): database + query walkthrough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assignment by the beginning of next week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the plenary — or catch up; materials are posted</a:t>
            </a:r>
            <a:endParaRPr lang="en-US" sz="1950" dirty="0"/>
          </a:p>
          <a:p>
            <a:pPr algn="l" indent="-314325" marL="314325">
              <a:lnSpc>
                <a:spcPct val="135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19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hands-on hour and mentors for infrastructure help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573000" y="2246114"/>
            <a:ext cx="4476750" cy="2007691"/>
          </a:xfrm>
          <a:prstGeom prst="roundRect">
            <a:avLst>
              <a:gd name="adj" fmla="val 4744"/>
            </a:avLst>
          </a:prstGeom>
          <a:solidFill>
            <a:srgbClr val="F8F9FA"/>
          </a:solidFill>
          <a:ln/>
        </p:spPr>
        <p:txBody>
          <a:bodyPr lIns="323850" rIns="323850" tIns="323850" bIns="323850" wrap="square">
            <a:spAutoFit/>
          </a:bodyPr>
          <a:p>
            <a:pPr algn="l" indent="0" marL="0">
              <a:buNone/>
            </a:pPr>
            <a:r>
              <a:rPr lang="en-US" sz="1800" b="1" spc="180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BACKGROUND</a:t>
            </a:r>
            <a:endParaRPr lang="en-US" sz="1800" dirty="0"/>
          </a:p>
          <a:p>
            <a:pPr algn="l" indent="0" marL="0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Hoiho — extracting router geolocation from hostnames (Luckie et al.); returns in Week 6.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573000" y="4463355"/>
            <a:ext cx="4476750" cy="1238250"/>
          </a:xfrm>
          <a:prstGeom prst="roundRect">
            <a:avLst>
              <a:gd name="adj" fmla="val 7692"/>
            </a:avLst>
          </a:prstGeom>
          <a:ln w="635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903201" y="4755456"/>
            <a:ext cx="419798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Questions </a:t>
            </a:r>
            <a:pPr algn="l"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Mattermost (fastest)</a:t>
            </a:r>
            <a:endParaRPr lang="en-US" sz="18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12903201" y="5104706"/>
            <a:ext cx="41979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training-program-info@caida.org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190750"/>
            <a:ext cx="10267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FOR SELF-STUDY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2565400"/>
            <a:ext cx="1026795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0" spc="-315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750" dirty="0"/>
          </a:p>
        </p:txBody>
      </p:sp>
      <p:sp>
        <p:nvSpPr>
          <p:cNvPr id="4" name="Text 2"/>
          <p:cNvSpPr/>
          <p:nvPr/>
        </p:nvSpPr>
        <p:spPr>
          <a:xfrm>
            <a:off x="1238250" y="4613275"/>
            <a:ext cx="961453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detail, not covered live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38250" y="6121996"/>
            <a:ext cx="9614535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slides included so the deck stands on its own — reference, depth, derivations</a:t>
            </a:r>
            <a:endParaRPr lang="en-US" sz="2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ITDK FILE FORMATS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release, file by file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4997946"/>
            <a:ext cx="951642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raw ITDK release is flat text. The nodes file lists each router as its set of interface addresses; the links file records each adjacency with the interfaces observed; nodes.as maps node to operator ASN; nodes.geo carries city, country and coordinates; dns-names holds timestamped PTR lookups per interface address.</a:t>
            </a:r>
            <a:endParaRPr lang="en-US" sz="2100" dirty="0"/>
          </a:p>
          <a:p>
            <a:pPr algn="l" indent="0" marL="0">
              <a:lnSpc>
                <a:spcPct val="145000"/>
              </a:lnSpc>
              <a:spcBef>
                <a:spcPts val="800"/>
              </a:spcBef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serves the same content from PostgreSQL so you can join instead of parse. If you later work with a raw release — they run to tens of GB uncompressed — stream line by line, filter early, and check the exact formats on the ITDK catalog page at caida.org before writing a parser.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A-app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0" y="3904357"/>
            <a:ext cx="59055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GLOSSARY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46" kern="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terms and acronyms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2313424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Advanced, program- or platform-specific terms only — alphabetical.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sp>
        <p:nvSpPr>
          <p:cNvPr id="18" name="Glossary list"/>
          <p:cNvSpPr txBox="1"/>
          <p:nvPr/>
        </p:nvSpPr>
        <p:spPr>
          <a:xfrm>
            <a:off x="1238250" y="2814566"/>
            <a:ext cx="15819120" cy="2103120"/>
          </a:xfrm>
          <a:prstGeom prst="rect">
            <a:avLst/>
          </a:prstGeom>
          <a:noFill/>
        </p:spPr>
        <p:txBody>
          <a:bodyPr wrap="square" anchor="t" numCol="2" spcCol="502920">
            <a:noAutofit/>
          </a:bodyPr>
          <a:lstStyle/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alias resolution  </a:t>
            </a:r>
            <a:r>
              <a:rPr sz="1400">
                <a:solidFill>
                  <a:srgbClr val="343A40"/>
                </a:solidFill>
              </a:rPr>
              <a:t>Grouping the interface IPs that belong to one physical router into one node.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Ark  </a:t>
            </a:r>
            <a:r>
              <a:rPr sz="1400">
                <a:solidFill>
                  <a:srgbClr val="343A40"/>
                </a:solidFill>
              </a:rPr>
              <a:t>CAIDA's distributed platform of traceroute vantage points.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bdrmapIT  </a:t>
            </a:r>
            <a:r>
              <a:rPr sz="1400">
                <a:solidFill>
                  <a:srgbClr val="343A40"/>
                </a:solidFill>
              </a:rPr>
              <a:t>Algorithm assigning each ITDK router to the AS that operates it.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border router  </a:t>
            </a:r>
            <a:r>
              <a:rPr sz="1400">
                <a:solidFill>
                  <a:srgbClr val="343A40"/>
                </a:solidFill>
              </a:rPr>
              <a:t>A router with at least one link neighbor in a different AS.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haversine  </a:t>
            </a:r>
            <a:r>
              <a:rPr sz="1400">
                <a:solidFill>
                  <a:srgbClr val="343A40"/>
                </a:solidFill>
              </a:rPr>
              <a:t>Great-circle distance between two lat/lon points — kilometers, here.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Hoiho  </a:t>
            </a:r>
            <a:r>
              <a:rPr sz="1400">
                <a:solidFill>
                  <a:srgbClr val="343A40"/>
                </a:solidFill>
              </a:rPr>
              <a:t>CAIDA tool inferring router locations from hostname naming conventions.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iffinder  </a:t>
            </a:r>
            <a:r>
              <a:rPr sz="1400">
                <a:solidFill>
                  <a:srgbClr val="343A40"/>
                </a:solidFill>
              </a:rPr>
              <a:t>Alias-resolution tool exploiting replies sent from a different interface.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IP-ID  </a:t>
            </a:r>
            <a:r>
              <a:rPr sz="1400">
                <a:solidFill>
                  <a:srgbClr val="343A40"/>
                </a:solidFill>
              </a:rPr>
              <a:t>IPv4 header counter; a shared counter across interfaces reveals aliases.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ITDK  </a:t>
            </a:r>
            <a:r>
              <a:rPr sz="1400">
                <a:solidFill>
                  <a:srgbClr val="343A40"/>
                </a:solidFill>
              </a:rPr>
              <a:t>Internet Topology Data Kit — CAIDA's annotated router-level graph.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MIDAR  </a:t>
            </a:r>
            <a:r>
              <a:rPr sz="1400">
                <a:solidFill>
                  <a:srgbClr val="343A40"/>
                </a:solidFill>
              </a:rPr>
              <a:t>Monotonic-ID alias resolution; scales the IP-ID test past 2M interfaces.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placeholder node  </a:t>
            </a:r>
            <a:r>
              <a:rPr sz="1400">
                <a:solidFill>
                  <a:srgbClr val="343A40"/>
                </a:solidFill>
              </a:rPr>
              <a:t>Synthetic node standing in for a router that never replied.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PTR record  </a:t>
            </a:r>
            <a:r>
              <a:rPr sz="1400">
                <a:solidFill>
                  <a:srgbClr val="343A40"/>
                </a:solidFill>
              </a:rPr>
              <a:t>Reverse-DNS record mapping an IP address back to a hostname.</a:t>
            </a:r>
          </a:p>
          <a:p>
            <a:pPr>
              <a:spcAft>
                <a:spcPts val="700"/>
              </a:spcAft>
            </a:pPr>
            <a:r>
              <a:rPr b="1" sz="1600">
                <a:solidFill>
                  <a:srgbClr val="2B5187"/>
                </a:solidFill>
              </a:rPr>
              <a:t>stale hostname  </a:t>
            </a:r>
            <a:r>
              <a:rPr sz="1400">
                <a:solidFill>
                  <a:srgbClr val="343A40"/>
                </a:solidFill>
              </a:rPr>
              <a:t>A PTR name that outlived a move — it encodes the router's old 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2026-06-21T00:44:42Z</dcterms:created>
  <dcterms:modified xsi:type="dcterms:W3CDTF">2026-06-21T00:44:42Z</dcterms:modified>
</cp:coreProperties>
</file>