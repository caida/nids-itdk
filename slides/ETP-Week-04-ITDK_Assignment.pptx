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63" r:id="rId10"/>
    <p:sldId id="264" r:id="rId11"/>
    <p:sldId id="265" r:id="rId12"/>
    <p:sldId id="266" r:id="rId13"/>
    <p:sldId id="267" r:id="rId14"/>
    <p:sldId id="280" r:id="rId15"/>
    <p:sldId id="288" r:id="rId16"/>
    <p:sldId id="281" r:id="rId17"/>
    <p:sldId id="282" r:id="rId18"/>
    <p:sldId id="283" r:id="rId19"/>
    <p:sldId id="284" r:id="rId20"/>
    <p:sldId id="285" r:id="rId21"/>
    <p:sldId id="286" r:id="rId22"/>
    <p:sldId id="268" r:id="rId23"/>
    <p:sldId id="289" r:id="rId24"/>
    <p:sldId id="270" r:id="rId25"/>
    <p:sldId id="290" r:id="rId26"/>
    <p:sldId id="291" r:id="rId27"/>
    <p:sldId id="292" r:id="rId28"/>
    <p:sldId id="277" r:id="rId29"/>
    <p:sldId id="278" r:id="rId3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757D"/>
    <a:srgbClr val="CA0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06" autoAdjust="0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44" y="5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9289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4 infrastructure hour — the hands-on companion to Tuesday's plenary. Goal: everyone leaves with the notebook connected, the schema understood, and Task 1's query pattern working. Keep it interactive; run queries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seconds: same block as Tuesday, different register — mechanics instead of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Two-minute bridge from Tuesday. If someone missed the plenary, the three left-hand points are the minimum context; the deck is posted.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and wait — nothing after this slide works for a student who isn't connected. The password is distributed through course materials, never on slides or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artifacts only: the database and the module. SQLAlchemy + pandas do the querying from Jupyter; students met both in earlier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one: the schema, table by table, then the two caveats (NULL peers, placeholder handling) that separate correct answers from plausible-looking wrong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tables mirror Tuesday's five raw files one-for-one. Put the schema diagram up and leave it up — students will screenshot this slide. All tables live in schema caida_itdk.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section expands the single 'writing efficient queries' slide. Six habits, each paired with the query from the answer key that puts it into practice. The through-line: every task starts from a small, indexed seed and grows outward, so a 14-million-row graph stays responsive.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for everything that follows. PK = primary key, IX = secondary index, PK·IX = an indexed primary key. A blank cell means that column is not indexed, so filtering or joining on it forces a scan. Every efficient query in this section seeks one of these indexed columns first: asn on itdk_node_as, (country, longitude) on itdk_node_geolocation, link_id / node_id on the endpoint table, hostname on itdk_router_hostnames.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habit. itdk_link_endpoints is 14.2M rows / 1.5 GB. The Task 1 query never touches it unfiltered: asn on itdk_node_as is indexed, so WHERE na.asn = 3356 seeks straight to Level3's nodes and the link join follows only those.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itdk_node_geolocation is indexed on (country, longitude). A B-tree composite index can only be used left-to-right: filtering on country (the leading column) uses it; filtering on longitude alone cannot. Task 2 filters country first, so the index applies.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from a few node_ids or a single ASN, then join outward. Task 2 builds a small seed of West Coast China Unicom routers in the cu CTE, then walks each router's links to the far endpoint. The seed is tiny; the links are followed from it, never enumerated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direct self-join of itdk_link_endpoints x itdk_node_as fans out badly: multiple endpoints per link, multiple ASNs per node. Task 3 first collapses to the grain it needs with a DISTINCT (link_id, asn) CTE, then does the row-multiplying self-join last, on the small collapsed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developing, wrap the draft query in EXPLAIN ANALYZE and add LIMIT so it returns fast. Read the plan: you want an Index Scan, not a Seq Scan. Once the plan is clean and the result shape looks right, drop both and run the full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SELECT *. The endpoint and hostname tables are wide and carry rows you rarely need in full. Task 2's peer query names exactly five columns across itdk_link_endpoints and itdk_router_hostnames, keeping result rows small and the LEFT JOIN cheap.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Appendix: a short SQL/tooling glossary. Not covered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SQL/tooling terms sized up for the short list; networking terms live in Tuesday's glossary.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38250" y="1428750"/>
            <a:ext cx="88011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b="1" kern="0" spc="312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1955800"/>
            <a:ext cx="8241030" cy="1553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850" kern="0" spc="-8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Analyzing the CAIDA ITDK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1238250" y="3757017"/>
            <a:ext cx="8241030" cy="91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55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4, hands-on: from a PostgreSQL schema to three answered questions about Internet interconnection.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38250" y="7626350"/>
            <a:ext cx="24786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 HOUR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8250" y="7988300"/>
            <a:ext cx="247869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 9 Jul 2026 · 12:00 PT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158357" y="7626350"/>
            <a:ext cx="18953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58357" y="7988300"/>
            <a:ext cx="189533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kc claffy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548140" y="7626350"/>
            <a:ext cx="52527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MENTORS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48140" y="7988300"/>
            <a:ext cx="52527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Ricky Mok · Bradley Huffaker · Matthew Luckie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990090" y="7626350"/>
            <a:ext cx="29430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CONTACT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990090" y="7988300"/>
            <a:ext cx="294308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Ma</a:t>
            </a:r>
            <a:endParaRPr lang="en-US" sz="19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8572500"/>
            <a:ext cx="926207" cy="914400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957" y="8572500"/>
            <a:ext cx="914400" cy="914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59857" y="8893175"/>
            <a:ext cx="6274604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by the NSF ESCALATE project · OAC-2519416</a:t>
            </a:r>
            <a:endParaRPr lang="en-US" sz="1800" dirty="0"/>
          </a:p>
        </p:txBody>
      </p:sp>
      <p:pic>
        <p:nvPicPr>
          <p:cNvPr id="900" name="B-he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0" y="1619250"/>
            <a:ext cx="7239000" cy="4095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2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building blocks — you are here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238250" y="2284214"/>
            <a:ext cx="2994620" cy="3255268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454150" y="2500114"/>
            <a:ext cx="28191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454150" y="3071614"/>
            <a:ext cx="263970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structure &amp; ASNs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054930" y="2284214"/>
            <a:ext cx="2994620" cy="3255268"/>
          </a:xfrm>
          <a:prstGeom prst="roundRect">
            <a:avLst>
              <a:gd name="adj" fmla="val 2545"/>
            </a:avLst>
          </a:prstGeom>
          <a:solidFill>
            <a:srgbClr val="E9EFF7"/>
          </a:solidFill>
          <a:ln w="6350">
            <a:solidFill>
              <a:srgbClr val="2B518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658320" y="2500114"/>
            <a:ext cx="28191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4658320" y="3071614"/>
            <a:ext cx="28191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BGP at scale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46591" y="2284214"/>
            <a:ext cx="2994720" cy="3255268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862491" y="2500114"/>
            <a:ext cx="28192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7862491" y="3071614"/>
            <a:ext cx="263980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Registries: WHOIS / IRR / RPKI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850861" y="2284214"/>
            <a:ext cx="2994620" cy="3255268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1066761" y="2500114"/>
            <a:ext cx="2819102" cy="582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rPr lang="en-US" sz="345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11066761" y="3071614"/>
            <a:ext cx="2819102" cy="370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relationships &amp; </a:t>
            </a: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055030" y="2284214"/>
            <a:ext cx="2994720" cy="3255268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4270931" y="2500114"/>
            <a:ext cx="2819212" cy="1113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50" dirty="0"/>
          </a:p>
          <a:p>
            <a:pPr marL="0" indent="0" algn="l">
              <a:lnSpc>
                <a:spcPct val="100000"/>
              </a:lnSpc>
              <a:buNone/>
            </a:pP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14270931" y="3071614"/>
            <a:ext cx="2639807" cy="71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Traceroute, topology, cables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38250" y="5749032"/>
            <a:ext cx="2994620" cy="3255268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454150" y="5964932"/>
            <a:ext cx="28191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450" dirty="0"/>
          </a:p>
        </p:txBody>
      </p:sp>
      <p:sp>
        <p:nvSpPr>
          <p:cNvPr id="22" name="Text 20"/>
          <p:cNvSpPr/>
          <p:nvPr/>
        </p:nvSpPr>
        <p:spPr>
          <a:xfrm>
            <a:off x="1454150" y="6536432"/>
            <a:ext cx="28191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Geolocation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42420" y="5749032"/>
            <a:ext cx="2994620" cy="3255268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4658320" y="5964932"/>
            <a:ext cx="28191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450" dirty="0"/>
          </a:p>
        </p:txBody>
      </p:sp>
      <p:sp>
        <p:nvSpPr>
          <p:cNvPr id="25" name="Text 23"/>
          <p:cNvSpPr/>
          <p:nvPr/>
        </p:nvSpPr>
        <p:spPr>
          <a:xfrm>
            <a:off x="4658320" y="6536432"/>
            <a:ext cx="28191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telescope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46591" y="5749032"/>
            <a:ext cx="2994720" cy="3255268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862491" y="5964932"/>
            <a:ext cx="28192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450" dirty="0"/>
          </a:p>
        </p:txBody>
      </p:sp>
      <p:sp>
        <p:nvSpPr>
          <p:cNvPr id="28" name="Text 26"/>
          <p:cNvSpPr/>
          <p:nvPr/>
        </p:nvSpPr>
        <p:spPr>
          <a:xfrm>
            <a:off x="7862491" y="6536432"/>
            <a:ext cx="28192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fusion (IYP)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850861" y="5749032"/>
            <a:ext cx="2994620" cy="3255268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1066761" y="5964932"/>
            <a:ext cx="28191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450" dirty="0"/>
          </a:p>
        </p:txBody>
      </p:sp>
      <p:sp>
        <p:nvSpPr>
          <p:cNvPr id="31" name="Text 29"/>
          <p:cNvSpPr/>
          <p:nvPr/>
        </p:nvSpPr>
        <p:spPr>
          <a:xfrm>
            <a:off x="11066761" y="6536432"/>
            <a:ext cx="28191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Degradation forensics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4055030" y="5749032"/>
            <a:ext cx="2994720" cy="3255268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14270931" y="5964932"/>
            <a:ext cx="281921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dirty="0">
                <a:solidFill>
                  <a:srgbClr val="C2C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450" dirty="0"/>
          </a:p>
        </p:txBody>
      </p:sp>
      <p:sp>
        <p:nvSpPr>
          <p:cNvPr id="34" name="Text 32"/>
          <p:cNvSpPr/>
          <p:nvPr/>
        </p:nvSpPr>
        <p:spPr>
          <a:xfrm>
            <a:off x="14270931" y="6536432"/>
            <a:ext cx="28192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SDSC hackathon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238250" y="9251950"/>
            <a:ext cx="1739265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1–8 build one block at a time; weeks 9–10 integrate them into a full forensic pipeline.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2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 · RECAP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left off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5068292"/>
            <a:ext cx="10767060" cy="41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333375" indent="-333375" algn="l">
              <a:lnSpc>
                <a:spcPct val="140000"/>
              </a:lnSpc>
              <a:buClr>
                <a:srgbClr val="C2C8D2"/>
              </a:buClr>
              <a:buFont typeface="Arial"/>
              <a:buChar char="▪"/>
            </a:pPr>
            <a:r>
              <a:rPr lang="en-US" sz="2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Traceroute reveals one interface per hop; alias resolution collapses interfaces into router nodes.</a:t>
            </a:r>
            <a:endParaRPr lang="en-US" sz="2100" dirty="0"/>
          </a:p>
          <a:p>
            <a:pPr marL="333375" indent="-333375" algn="l">
              <a:lnSpc>
                <a:spcPct val="140000"/>
              </a:lnSpc>
              <a:spcBef>
                <a:spcPts val="800"/>
              </a:spcBef>
              <a:buClr>
                <a:srgbClr val="C2C8D2"/>
              </a:buClr>
              <a:buFont typeface="Arial"/>
              <a:buChar char="▪"/>
            </a:pPr>
            <a:r>
              <a:rPr lang="en-US" sz="2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ITDK annotates each node with an operator AS and two geolocation signals (Hoiho, Maxmind).</a:t>
            </a:r>
            <a:endParaRPr lang="en-US" sz="2100" dirty="0"/>
          </a:p>
          <a:p>
            <a:pPr marL="333375" indent="-333375" algn="l">
              <a:lnSpc>
                <a:spcPct val="140000"/>
              </a:lnSpc>
              <a:spcBef>
                <a:spcPts val="800"/>
              </a:spcBef>
              <a:buClr>
                <a:srgbClr val="C2C8D2"/>
              </a:buClr>
              <a:buFont typeface="Arial"/>
              <a:buChar char="▪"/>
            </a:pPr>
            <a:r>
              <a:rPr lang="en-US" sz="2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question: how do we actually query millions of nodes and links without drowning?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2096750" y="4668639"/>
            <a:ext cx="4953000" cy="2911477"/>
          </a:xfrm>
          <a:prstGeom prst="roundRect">
            <a:avLst>
              <a:gd name="adj" fmla="val 3824"/>
            </a:avLst>
          </a:prstGeom>
          <a:solidFill>
            <a:srgbClr val="E9EFF7"/>
          </a:solidFill>
          <a:ln w="6350">
            <a:solidFill>
              <a:srgbClr val="2B5187"/>
            </a:solidFill>
            <a:prstDash val="solid"/>
          </a:ln>
        </p:spPr>
        <p:txBody>
          <a:bodyPr wrap="square" lIns="406401" tIns="406400" rIns="406401" bIns="406400">
            <a:spAutoFit/>
          </a:bodyPr>
          <a:lstStyle/>
          <a:p>
            <a:pPr marL="0" indent="0" algn="l">
              <a:buNone/>
            </a:pPr>
            <a:r>
              <a:rPr lang="en-US" sz="1800" b="1" kern="0" spc="18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BUILDS ON IT</a:t>
            </a:r>
            <a:endParaRPr lang="en-US" sz="1800" dirty="0"/>
          </a:p>
          <a:p>
            <a:pPr marL="0" indent="0" algn="l">
              <a:lnSpc>
                <a:spcPct val="14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is mechanics: the module's PostgreSQL schema, the join patterns, and what each task expects.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2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BE42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REQUIRED · BEFORE WE START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connected — first ten minutes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238250" y="4352032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200150" y="4352032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095500" y="4428232"/>
            <a:ext cx="1540287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sz="2100" b="1">
                <a:solidFill>
                  <a:srgbClr val="212529"/>
                </a:solidFill>
                <a:latin typeface="Arial"/>
              </a:rPr>
              <a:t>Get the module. </a:t>
            </a:r>
            <a:r>
              <a:rPr sz="2100" b="0">
                <a:solidFill>
                  <a:srgbClr val="343A40"/>
                </a:solidFill>
                <a:latin typeface="Arial"/>
              </a:rPr>
              <a:t>Clone or download github.com/CAIDA/nids-itdk and open nids-itdk.ipynb locally.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238250" y="5209282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200150" y="5209282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2095500" y="5285482"/>
            <a:ext cx="1540287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sz="2100" b="1">
                <a:solidFill>
                  <a:srgbClr val="212529"/>
                </a:solidFill>
                <a:latin typeface="Arial"/>
              </a:rPr>
              <a:t>Install dependencies. </a:t>
            </a:r>
            <a:r>
              <a:rPr sz="2100" b="0">
                <a:solidFill>
                  <a:srgbClr val="343A40"/>
                </a:solidFill>
                <a:latin typeface="Arial"/>
              </a:rPr>
              <a:t>Run pip install -r requirements.txt (or uv sync) in the project folder.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238250" y="6066532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200150" y="6066532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095500" y="6142732"/>
            <a:ext cx="15402878" cy="410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sz="2100" b="1" dirty="0">
                <a:solidFill>
                  <a:srgbClr val="212529"/>
                </a:solidFill>
                <a:latin typeface="Arial"/>
              </a:rPr>
              <a:t>Set up local credentials. </a:t>
            </a:r>
            <a:r>
              <a:rPr sz="2100" b="0" dirty="0">
                <a:solidFill>
                  <a:srgbClr val="343A40"/>
                </a:solidFill>
                <a:latin typeface="Arial"/>
              </a:rPr>
              <a:t>Create a local copy of </a:t>
            </a:r>
            <a:r>
              <a:rPr sz="2100" b="0" dirty="0" err="1">
                <a:solidFill>
                  <a:srgbClr val="2B5187"/>
                </a:solidFill>
                <a:latin typeface="Roboto Mono"/>
              </a:rPr>
              <a:t>db_credentials.env</a:t>
            </a:r>
            <a:r>
              <a:rPr sz="2100" b="0" dirty="0">
                <a:solidFill>
                  <a:srgbClr val="343A40"/>
                </a:solidFill>
                <a:latin typeface="Arial"/>
              </a:rPr>
              <a:t> and populate </a:t>
            </a:r>
            <a:r>
              <a:rPr sz="2100" b="0" dirty="0" err="1">
                <a:solidFill>
                  <a:srgbClr val="343A40"/>
                </a:solidFill>
                <a:latin typeface="Arial"/>
              </a:rPr>
              <a:t>db_read_user</a:t>
            </a:r>
            <a:r>
              <a:rPr sz="2100" b="0" dirty="0">
                <a:solidFill>
                  <a:srgbClr val="343A40"/>
                </a:solidFill>
                <a:latin typeface="Arial"/>
              </a:rPr>
              <a:t> / </a:t>
            </a:r>
            <a:r>
              <a:rPr sz="2100" b="0" dirty="0" err="1">
                <a:solidFill>
                  <a:srgbClr val="343A40"/>
                </a:solidFill>
                <a:latin typeface="Arial"/>
              </a:rPr>
              <a:t>db_read_password</a:t>
            </a:r>
            <a:r>
              <a:rPr sz="2100" b="0" dirty="0">
                <a:solidFill>
                  <a:srgbClr val="343A40"/>
                </a:solidFill>
                <a:latin typeface="Arial"/>
              </a:rPr>
              <a:t> (host db.nids.caida.org).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38250" y="6923782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200150" y="6923782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2095500" y="6999982"/>
            <a:ext cx="1540287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connection cell. </a:t>
            </a:r>
            <a:r>
              <a:rPr lang="en-US" sz="2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row count prints on success. Stuck? Mattermost, now — mentors are online.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2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YOU’LL WORK WITH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will work with today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238250" y="4306392"/>
            <a:ext cx="15811500" cy="1464866"/>
          </a:xfrm>
          <a:prstGeom prst="roundRect">
            <a:avLst>
              <a:gd name="adj" fmla="val 520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238250" y="5764907"/>
            <a:ext cx="158115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238250" y="4306392"/>
            <a:ext cx="158115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238250" y="4306392"/>
            <a:ext cx="44450" cy="1464866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7043400" y="4306392"/>
            <a:ext cx="9525" cy="1464866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63700" y="4636591"/>
            <a:ext cx="779940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ITDK 2026, relational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63700" y="5081092"/>
            <a:ext cx="7799408" cy="3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1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routers-file ITDK graph served as five PostgreSQL tables.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4549766" y="4711799"/>
            <a:ext cx="211263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549766" y="5061049"/>
            <a:ext cx="211263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caida_itdk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38250" y="6057007"/>
            <a:ext cx="15811500" cy="1464866"/>
          </a:xfrm>
          <a:prstGeom prst="roundRect">
            <a:avLst>
              <a:gd name="adj" fmla="val 520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238250" y="7515523"/>
            <a:ext cx="158115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1238250" y="6057007"/>
            <a:ext cx="158115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1238250" y="6057007"/>
            <a:ext cx="44450" cy="1464866"/>
          </a:xfrm>
          <a:prstGeom prst="rect">
            <a:avLst/>
          </a:prstGeom>
          <a:solidFill>
            <a:srgbClr val="2B51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7043400" y="6057007"/>
            <a:ext cx="9525" cy="1464866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663700" y="6387207"/>
            <a:ext cx="779940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nids-itdk module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63700" y="6831707"/>
            <a:ext cx="7799408" cy="428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0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Notebook, task pages, and background for this week’s assignment.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097050" y="6462415"/>
            <a:ext cx="256535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404715" y="6811665"/>
            <a:ext cx="3257685" cy="32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r">
              <a:buNone/>
            </a:pPr>
            <a:r>
              <a:rPr lang="en-US" sz="1800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github.com/CAIDA/nids-itdk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51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38250" y="2190750"/>
            <a:ext cx="809845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b="1" kern="0" spc="351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ONE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2565400"/>
            <a:ext cx="8098453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750" kern="0" spc="-3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750" dirty="0"/>
          </a:p>
        </p:txBody>
      </p:sp>
      <p:sp>
        <p:nvSpPr>
          <p:cNvPr id="7" name="Text 5"/>
          <p:cNvSpPr/>
          <p:nvPr/>
        </p:nvSpPr>
        <p:spPr>
          <a:xfrm>
            <a:off x="1238250" y="4613275"/>
            <a:ext cx="8098453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4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database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38250" y="6222617"/>
            <a:ext cx="8098453" cy="4752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55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tables that carry the whole router graph — and the caveats baked into them</a:t>
            </a:r>
            <a:endParaRPr lang="en-US" sz="2550" dirty="0"/>
          </a:p>
        </p:txBody>
      </p:sp>
      <p:pic>
        <p:nvPicPr>
          <p:cNvPr id="900" name="B-div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250" y="2571750"/>
            <a:ext cx="51435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2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· SCHEMA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ITDK, relational: five tables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2975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333375" indent="-333375" algn="l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v_itdk_ifaces_transit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interface IPs for transit-observed nodes (a view).</a:t>
            </a:r>
            <a:endParaRPr lang="en-US" sz="2400" dirty="0"/>
          </a:p>
          <a:p>
            <a:pPr marL="333375" indent="-333375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itdk_link_endpoints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two rows per link, one per endpoint node.</a:t>
            </a:r>
            <a:endParaRPr lang="en-US" sz="2400" dirty="0"/>
          </a:p>
          <a:p>
            <a:pPr marL="333375" indent="-333375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itdk_node_as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itdk_node_geolocation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operator ASN; city, coordinates and method.</a:t>
            </a:r>
            <a:endParaRPr lang="en-US" sz="2400" dirty="0"/>
          </a:p>
          <a:p>
            <a:pPr marL="333375" indent="-333375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itdk_router_hostnames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PTR hostname per interface IP, where one exists.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everything joins on node_id, link_id, or ip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B-c-tab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31589" y="876300"/>
            <a:ext cx="44199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dirty="0">
                <a:solidFill>
                  <a:srgbClr val="212529"/>
                </a:solidFill>
                <a:latin typeface="Arial"/>
              </a:rPr>
              <a:t>WEEK 4 · BUILDING BLOC</a:t>
            </a:r>
            <a:r>
              <a:rPr lang="en-US" sz="1800" b="0" dirty="0">
                <a:solidFill>
                  <a:srgbClr val="212529"/>
                </a:solidFill>
                <a:latin typeface="Arial"/>
              </a:rPr>
              <a:t>K 4 / 10</a:t>
            </a:r>
            <a:endParaRPr sz="1800" b="0" dirty="0">
              <a:solidFill>
                <a:srgbClr val="212529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50" b="1">
                <a:solidFill>
                  <a:srgbClr val="A9C2E4"/>
                </a:solidFill>
                <a:latin typeface="Arial"/>
              </a:rPr>
              <a:t>DATABASE ·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50" b="0">
                <a:solidFill>
                  <a:srgbClr val="2B5187"/>
                </a:solidFill>
                <a:latin typeface="Arial"/>
              </a:rPr>
              <a:t>Database schema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38250" y="3100000"/>
          <a:ext cx="15819120" cy="5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3333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Table Name</a:t>
                      </a:r>
                    </a:p>
                  </a:txBody>
                  <a:tcPr anchor="ctr">
                    <a:solidFill>
                      <a:srgbClr val="2B518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Rows / Size</a:t>
                      </a:r>
                    </a:p>
                  </a:txBody>
                  <a:tcPr anchor="ctr">
                    <a:solidFill>
                      <a:srgbClr val="2B518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Technical Description</a:t>
                      </a:r>
                    </a:p>
                  </a:txBody>
                  <a:tcPr anchor="ctr">
                    <a:solidFill>
                      <a:srgbClr val="2B51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333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43A40"/>
                          </a:solidFill>
                          <a:latin typeface="Roboto Mono"/>
                        </a:rPr>
                        <a:t>itdk_link_endpoints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C757D"/>
                          </a:solidFill>
                          <a:latin typeface="Arial"/>
                        </a:rPr>
                        <a:t>14,222,743 rows
1,537.84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43A40"/>
                          </a:solidFill>
                          <a:latin typeface="Arial"/>
                        </a:rPr>
                        <a:t>Maps each inferred link to its endpoint router nodes (~2 rows per link)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333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43A40"/>
                          </a:solidFill>
                          <a:latin typeface="Roboto Mono"/>
                        </a:rPr>
                        <a:t>itdk_node_geolocation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C757D"/>
                          </a:solidFill>
                          <a:latin typeface="Arial"/>
                        </a:rPr>
                        <a:t>3,735,246 rows
518.91 MB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43A40"/>
                          </a:solidFill>
                          <a:latin typeface="Arial"/>
                        </a:rPr>
                        <a:t>City/country/lat-lon per node, tagged by method (hoiho or maxmind)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333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43A40"/>
                          </a:solidFill>
                          <a:latin typeface="Roboto Mono"/>
                        </a:rPr>
                        <a:t>v_itdk_ifaces_transit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C757D"/>
                          </a:solidFill>
                          <a:latin typeface="Arial"/>
                        </a:rPr>
                        <a:t>3,231,689 rows
452.48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43A40"/>
                          </a:solidFill>
                          <a:latin typeface="Arial"/>
                        </a:rPr>
                        <a:t>Interface IPs for transit-observed nodes (a view), linked via link_id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333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43A40"/>
                          </a:solidFill>
                          <a:latin typeface="Roboto Mono"/>
                        </a:rPr>
                        <a:t>itdk_router_hostnames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C757D"/>
                          </a:solidFill>
                          <a:latin typeface="Arial"/>
                        </a:rPr>
                        <a:t>2,240,516 rows
414.45 MB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43A40"/>
                          </a:solidFill>
                          <a:latin typeface="Arial"/>
                        </a:rPr>
                        <a:t>DNS PTR hostname per interface IP, where one exists</a:t>
                      </a:r>
                    </a:p>
                  </a:txBody>
                  <a:tcPr anchor="ctr"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333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43A40"/>
                          </a:solidFill>
                          <a:latin typeface="Roboto Mono"/>
                        </a:rPr>
                        <a:t>itdk_node_as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C757D"/>
                          </a:solidFill>
                          <a:latin typeface="Arial"/>
                        </a:rPr>
                        <a:t>3,737,018 rows
391.16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43A40"/>
                          </a:solidFill>
                          <a:latin typeface="Arial"/>
                        </a:rPr>
                        <a:t>Maps each router node to its operating ASN (bdrmapIT)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238250" y="8850000"/>
            <a:ext cx="15819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dirty="0">
                <a:solidFill>
                  <a:srgbClr val="6C757D"/>
                </a:solidFill>
                <a:latin typeface="Arial"/>
              </a:rPr>
              <a:t>schema </a:t>
            </a:r>
            <a:r>
              <a:rPr sz="2400" b="0" dirty="0" err="1">
                <a:solidFill>
                  <a:srgbClr val="6C757D"/>
                </a:solidFill>
                <a:latin typeface="Arial"/>
              </a:rPr>
              <a:t>caida_itdk</a:t>
            </a:r>
            <a:r>
              <a:rPr sz="2400" b="0" dirty="0">
                <a:solidFill>
                  <a:srgbClr val="6C757D"/>
                </a:solidFill>
                <a:latin typeface="Arial"/>
              </a:rPr>
              <a:t> (PostgreSQL) · join keys: </a:t>
            </a:r>
            <a:r>
              <a:rPr sz="2400" b="0" dirty="0" err="1">
                <a:solidFill>
                  <a:srgbClr val="6C757D"/>
                </a:solidFill>
                <a:latin typeface="Arial"/>
              </a:rPr>
              <a:t>node_id</a:t>
            </a:r>
            <a:r>
              <a:rPr sz="2400" b="0" dirty="0">
                <a:solidFill>
                  <a:srgbClr val="6C757D"/>
                </a:solidFill>
                <a:latin typeface="Arial"/>
              </a:rPr>
              <a:t>, </a:t>
            </a:r>
            <a:r>
              <a:rPr sz="2400" b="0" dirty="0" err="1">
                <a:solidFill>
                  <a:srgbClr val="6C757D"/>
                </a:solidFill>
                <a:latin typeface="Arial"/>
              </a:rPr>
              <a:t>link_id</a:t>
            </a:r>
            <a:r>
              <a:rPr sz="2400" b="0" dirty="0">
                <a:solidFill>
                  <a:srgbClr val="6C757D"/>
                </a:solidFill>
                <a:latin typeface="Arial"/>
              </a:rPr>
              <a:t>, </a:t>
            </a:r>
            <a:r>
              <a:rPr sz="2400" b="0" dirty="0" err="1">
                <a:solidFill>
                  <a:srgbClr val="6C757D"/>
                </a:solidFill>
                <a:latin typeface="Arial"/>
              </a:rPr>
              <a:t>ip</a:t>
            </a:r>
            <a:endParaRPr sz="2400" b="0" dirty="0">
              <a:solidFill>
                <a:srgbClr val="6C757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2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· QUERY PATTERNS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link is two rows: the self-join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3308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333375" indent="-333375" algn="l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</a:t>
            </a:r>
            <a:r>
              <a:rPr lang="en-US" sz="2400" dirty="0" err="1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link_id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normally appears twice in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itdk_link_endpoints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once per endpoint node.</a:t>
            </a:r>
            <a:endParaRPr lang="en-US" sz="2400" dirty="0"/>
          </a:p>
          <a:p>
            <a:pPr marL="333375" indent="-333375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table to itself on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link_id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node_id != node_id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lay a link flat: one row, both ends.</a:t>
            </a:r>
            <a:endParaRPr lang="en-US" sz="2400" dirty="0"/>
          </a:p>
          <a:p>
            <a:pPr marL="333375" indent="-333375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task this week starts from this pattern — get it right once and reuse it everywhere.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two rows per link become one row with both endpoints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B-c-selfjo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2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· SCHEMA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operates it, what it's called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287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333375" indent="-333375" algn="l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itdk_node_as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maps node → ASN, as assigned by the ITDK build (bdrmapIT, not naive BGP origin).</a:t>
            </a:r>
            <a:endParaRPr lang="en-US" sz="2400" dirty="0"/>
          </a:p>
          <a:p>
            <a:pPr marL="333375" indent="-333375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v_itdk_ifaces_transit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expands a node into its interface IPs — the bridge from topology to addresses.</a:t>
            </a:r>
            <a:endParaRPr lang="en-US" sz="2400" dirty="0"/>
          </a:p>
          <a:p>
            <a:pPr marL="333375" indent="-333375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itdk_router_hostnames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turns an IP into its PTR name; join through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v_itdk_ifaces_transit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name a router.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node → interface IPs → hostnames: the naming chain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B-c-id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2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· SCHEMA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sits: one location, one method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287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333375" indent="-333375" algn="l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itdk_node_geolocation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city, country, latitude, longitude — one row per located node.</a:t>
            </a:r>
            <a:endParaRPr lang="en-US" sz="2400" dirty="0"/>
          </a:p>
          <a:p>
            <a:pPr marL="333375" indent="-333375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method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column names the signal that produced the row: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hoiho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maxmind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  <a:p>
            <a:pPr marL="333375" indent="-333375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method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through your joins — Task 3's entire analysis is a comparison of the two.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the method column is data, not metadata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E6A2B5-614C-65C7-CADF-81D979CDE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2540" y="3882027"/>
            <a:ext cx="6430284" cy="37057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2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· CAVEATS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database is routers-file only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287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333375" indent="-333375" algn="l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 nodes were dropped at build time — every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node_id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here is a real, observed router.</a:t>
            </a:r>
            <a:endParaRPr lang="en-US" sz="2400" dirty="0"/>
          </a:p>
          <a:p>
            <a:pPr marL="333375" indent="-333375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absence surfaces as NULLs: peer queries return rows with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peer_asn IS NULL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where a silent hop sat.</a:t>
            </a:r>
            <a:endParaRPr lang="en-US" sz="2400" dirty="0"/>
          </a:p>
          <a:p>
            <a:pPr marL="333375" indent="-333375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with </a:t>
            </a: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peer_asn IS NOT NULL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tables like Task 2's — and say that you did in your write-up.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dropped placeholders leave NULL-shaped holes — filter deliberately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9B8093-D155-1957-2F33-59697B86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920" y="3891063"/>
            <a:ext cx="6136765" cy="33854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2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· CAVEATS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handle silent hops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38250" y="4460677"/>
            <a:ext cx="8721566" cy="3829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333375" indent="-333375" algn="l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them — simplest; breaks distance and connectivity math across the gap.</a:t>
            </a:r>
            <a:endParaRPr lang="en-US" sz="2400" dirty="0"/>
          </a:p>
          <a:p>
            <a:pPr marL="333375" indent="-333375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links — replace A–*–B with one link of weight 2; preserves reach, distorts degree counts.</a:t>
            </a:r>
            <a:endParaRPr lang="en-US" sz="2400" dirty="0"/>
          </a:p>
          <a:p>
            <a:pPr marL="333375" indent="-333375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first only — at least one silent router exists there; a defensible lower bound.</a:t>
            </a:r>
            <a:endParaRPr lang="en-US" sz="2400" dirty="0"/>
          </a:p>
          <a:p>
            <a:pPr marL="333375" indent="-333375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 nodes only — keep routers observed forwarding traffic; smaller graph, every node real. This database's choice.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no free lunch — each strategy trades a different error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B-c-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9450"/>
            <a:ext cx="18288001" cy="10287000"/>
          </a:xfrm>
          <a:prstGeom prst="rect">
            <a:avLst/>
          </a:prstGeom>
          <a:gradFill rotWithShape="1">
            <a:gsLst>
              <a:gs pos="0">
                <a:srgbClr val="2A3F6A">
                  <a:alpha val="100000"/>
                </a:srgbClr>
              </a:gs>
              <a:gs pos="100000">
                <a:srgbClr val="243760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47750" y="5942643"/>
            <a:ext cx="457200" cy="311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6A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638274" y="6350679"/>
            <a:ext cx="3505265" cy="344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start from a full scan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20126" y="5942643"/>
            <a:ext cx="457200" cy="311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6A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9210649" y="5901229"/>
            <a:ext cx="5234479" cy="344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indexes help left-to-right only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7750" y="6485930"/>
            <a:ext cx="457200" cy="311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6A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638273" y="5929448"/>
            <a:ext cx="4647113" cy="344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outward from a small seed set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620126" y="6485930"/>
            <a:ext cx="457200" cy="311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6A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9210649" y="6444517"/>
            <a:ext cx="5691874" cy="344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cheap enrichment before you fan out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47750" y="7029217"/>
            <a:ext cx="457200" cy="311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6A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638274" y="6987804"/>
            <a:ext cx="3930059" cy="344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small, then scale up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620126" y="7029217"/>
            <a:ext cx="457200" cy="311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6A0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210649" y="6987804"/>
            <a:ext cx="4387026" cy="344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EF2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only the columns you need</a:t>
            </a:r>
            <a:endParaRPr lang="en-US" sz="21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1A5069B2-484A-B431-2187-D0A4E1A4EEE7}"/>
              </a:ext>
            </a:extLst>
          </p:cNvPr>
          <p:cNvSpPr/>
          <p:nvPr/>
        </p:nvSpPr>
        <p:spPr>
          <a:xfrm>
            <a:off x="1238250" y="2190750"/>
            <a:ext cx="809845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b="1" kern="0" spc="351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TWO</a:t>
            </a:r>
            <a:endParaRPr lang="en-US" sz="195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83BA4269-4657-E4BB-4AC6-8BE19E569045}"/>
              </a:ext>
            </a:extLst>
          </p:cNvPr>
          <p:cNvSpPr/>
          <p:nvPr/>
        </p:nvSpPr>
        <p:spPr>
          <a:xfrm>
            <a:off x="1238250" y="2565400"/>
            <a:ext cx="8098453" cy="2232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750" kern="0" spc="-3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75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CCE2482E-D668-67BA-124F-71418693416E}"/>
              </a:ext>
            </a:extLst>
          </p:cNvPr>
          <p:cNvSpPr/>
          <p:nvPr/>
        </p:nvSpPr>
        <p:spPr>
          <a:xfrm>
            <a:off x="1238250" y="4613275"/>
            <a:ext cx="8098453" cy="790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48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SQL Tips</a:t>
            </a:r>
            <a:endParaRPr lang="en-US" sz="4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4452368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64" dirty="0">
                <a:solidFill>
                  <a:srgbClr val="3F54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· QUERY PATTERNS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078292"/>
            <a:ext cx="4452368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5841008" y="762000"/>
            <a:ext cx="1539168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ADB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549495"/>
            <a:ext cx="17811750" cy="601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200" kern="0" spc="-42" dirty="0">
                <a:solidFill>
                  <a:srgbClr val="324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which columns are indexed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47750" y="2265035"/>
            <a:ext cx="16554450" cy="443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22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blank cell means a scan. Every query that follows seeks one of these indexed columns first.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4885962"/>
            <a:ext cx="3806247" cy="515075"/>
          </a:xfrm>
          <a:prstGeom prst="roundRect">
            <a:avLst>
              <a:gd name="adj" fmla="val 11095"/>
            </a:avLst>
          </a:prstGeom>
          <a:solidFill>
            <a:srgbClr val="3F548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19200" y="5019312"/>
            <a:ext cx="3577534" cy="286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4632989" y="4885962"/>
            <a:ext cx="1310852" cy="515075"/>
          </a:xfrm>
          <a:prstGeom prst="rect">
            <a:avLst/>
          </a:prstGeom>
          <a:solidFill>
            <a:srgbClr val="3F548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49247" y="5019312"/>
            <a:ext cx="798651" cy="286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7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5919347" y="4885962"/>
            <a:ext cx="1310852" cy="515075"/>
          </a:xfrm>
          <a:prstGeom prst="rect">
            <a:avLst/>
          </a:prstGeom>
          <a:solidFill>
            <a:srgbClr val="3F54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95547" y="5019312"/>
            <a:ext cx="1158452" cy="286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75" b="1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node_id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7230200" y="4885962"/>
            <a:ext cx="1310852" cy="515075"/>
          </a:xfrm>
          <a:prstGeom prst="rect">
            <a:avLst/>
          </a:prstGeom>
          <a:solidFill>
            <a:srgbClr val="3F54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06400" y="5019312"/>
            <a:ext cx="1158452" cy="286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link_id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8541053" y="4885962"/>
            <a:ext cx="2635811" cy="515075"/>
          </a:xfrm>
          <a:prstGeom prst="rect">
            <a:avLst/>
          </a:prstGeom>
          <a:solidFill>
            <a:srgbClr val="3F54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15815" y="5019312"/>
            <a:ext cx="2486285" cy="286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endpoint_ordinal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11176863" y="4885962"/>
            <a:ext cx="1086575" cy="515075"/>
          </a:xfrm>
          <a:prstGeom prst="rect">
            <a:avLst/>
          </a:prstGeom>
          <a:solidFill>
            <a:srgbClr val="3F54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253063" y="5019312"/>
            <a:ext cx="934175" cy="286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asn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2263438" y="4885962"/>
            <a:ext cx="1310852" cy="515075"/>
          </a:xfrm>
          <a:prstGeom prst="rect">
            <a:avLst/>
          </a:prstGeom>
          <a:solidFill>
            <a:srgbClr val="3F54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684406" y="4905011"/>
            <a:ext cx="2692520" cy="476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13574290" y="4885962"/>
            <a:ext cx="1605273" cy="515075"/>
          </a:xfrm>
          <a:prstGeom prst="rect">
            <a:avLst/>
          </a:prstGeom>
          <a:solidFill>
            <a:srgbClr val="3F54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5179563" y="4885962"/>
            <a:ext cx="602819" cy="515075"/>
          </a:xfrm>
          <a:prstGeom prst="rect">
            <a:avLst/>
          </a:prstGeom>
          <a:solidFill>
            <a:srgbClr val="3F54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5255763" y="5019312"/>
            <a:ext cx="450419" cy="286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15782382" y="4885962"/>
            <a:ext cx="1458127" cy="515075"/>
          </a:xfrm>
          <a:prstGeom prst="rect">
            <a:avLst/>
          </a:prstGeom>
          <a:solidFill>
            <a:srgbClr val="3F54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858582" y="5019312"/>
            <a:ext cx="1305727" cy="286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1047750" y="5401036"/>
            <a:ext cx="16192500" cy="55726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47750" y="5950018"/>
            <a:ext cx="3806247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19200" y="5553436"/>
            <a:ext cx="3577534" cy="282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242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itdk_link_endpoints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853997" y="5950018"/>
            <a:ext cx="1065351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49247" y="5553436"/>
            <a:ext cx="798651" cy="282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14M</a:t>
            </a:r>
            <a:endParaRPr lang="en-US" sz="2400" b="1" dirty="0"/>
          </a:p>
        </p:txBody>
      </p:sp>
      <p:sp>
        <p:nvSpPr>
          <p:cNvPr id="32" name="Shape 30"/>
          <p:cNvSpPr/>
          <p:nvPr/>
        </p:nvSpPr>
        <p:spPr>
          <a:xfrm>
            <a:off x="5919347" y="5950018"/>
            <a:ext cx="1310852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95547" y="5553436"/>
            <a:ext cx="1158452" cy="282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F54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IX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7230200" y="5950018"/>
            <a:ext cx="1310852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/>
          <p:nvPr/>
        </p:nvSpPr>
        <p:spPr>
          <a:xfrm>
            <a:off x="7306400" y="5553436"/>
            <a:ext cx="1158452" cy="282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43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8541053" y="5950018"/>
            <a:ext cx="2635811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/>
          <p:nvPr/>
        </p:nvSpPr>
        <p:spPr>
          <a:xfrm>
            <a:off x="8615815" y="5553436"/>
            <a:ext cx="2486285" cy="282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43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11176863" y="5950018"/>
            <a:ext cx="1086575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9" name="Shape 37"/>
          <p:cNvSpPr/>
          <p:nvPr/>
        </p:nvSpPr>
        <p:spPr>
          <a:xfrm>
            <a:off x="12263438" y="5950018"/>
            <a:ext cx="1310852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0" name="Shape 38"/>
          <p:cNvSpPr/>
          <p:nvPr/>
        </p:nvSpPr>
        <p:spPr>
          <a:xfrm>
            <a:off x="13574290" y="5950018"/>
            <a:ext cx="1605273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1" name="Shape 39"/>
          <p:cNvSpPr/>
          <p:nvPr/>
        </p:nvSpPr>
        <p:spPr>
          <a:xfrm>
            <a:off x="15179563" y="5950018"/>
            <a:ext cx="602819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2" name="Shape 40"/>
          <p:cNvSpPr/>
          <p:nvPr/>
        </p:nvSpPr>
        <p:spPr>
          <a:xfrm>
            <a:off x="15782382" y="5950018"/>
            <a:ext cx="1458127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3" name="Shape 41"/>
          <p:cNvSpPr/>
          <p:nvPr/>
        </p:nvSpPr>
        <p:spPr>
          <a:xfrm>
            <a:off x="1047750" y="6511424"/>
            <a:ext cx="3806247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219200" y="6110701"/>
            <a:ext cx="3577534" cy="286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242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itdk_node_as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4853997" y="6511424"/>
            <a:ext cx="1065351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49247" y="6110701"/>
            <a:ext cx="798651" cy="286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4M</a:t>
            </a:r>
            <a:endParaRPr lang="en-US" sz="2400" b="1" dirty="0"/>
          </a:p>
        </p:txBody>
      </p:sp>
      <p:sp>
        <p:nvSpPr>
          <p:cNvPr id="47" name="Shape 45"/>
          <p:cNvSpPr/>
          <p:nvPr/>
        </p:nvSpPr>
        <p:spPr>
          <a:xfrm>
            <a:off x="5919347" y="6511424"/>
            <a:ext cx="1310852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995547" y="6110701"/>
            <a:ext cx="1158452" cy="286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43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2400" dirty="0"/>
          </a:p>
        </p:txBody>
      </p:sp>
      <p:sp>
        <p:nvSpPr>
          <p:cNvPr id="49" name="Shape 47"/>
          <p:cNvSpPr/>
          <p:nvPr/>
        </p:nvSpPr>
        <p:spPr>
          <a:xfrm>
            <a:off x="7230200" y="6511424"/>
            <a:ext cx="1310852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0" name="Shape 48"/>
          <p:cNvSpPr/>
          <p:nvPr/>
        </p:nvSpPr>
        <p:spPr>
          <a:xfrm>
            <a:off x="8541053" y="6511424"/>
            <a:ext cx="2635811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1" name="Shape 49"/>
          <p:cNvSpPr/>
          <p:nvPr/>
        </p:nvSpPr>
        <p:spPr>
          <a:xfrm>
            <a:off x="11176863" y="6511424"/>
            <a:ext cx="1086575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2" name="Text 50"/>
          <p:cNvSpPr/>
          <p:nvPr/>
        </p:nvSpPr>
        <p:spPr>
          <a:xfrm>
            <a:off x="11067083" y="6064206"/>
            <a:ext cx="1310852" cy="294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43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PK·IX</a:t>
            </a:r>
            <a:endParaRPr lang="en-US" sz="2400" dirty="0"/>
          </a:p>
        </p:txBody>
      </p:sp>
      <p:sp>
        <p:nvSpPr>
          <p:cNvPr id="53" name="Shape 51"/>
          <p:cNvSpPr/>
          <p:nvPr/>
        </p:nvSpPr>
        <p:spPr>
          <a:xfrm>
            <a:off x="12263438" y="6511424"/>
            <a:ext cx="1310852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4" name="Shape 52"/>
          <p:cNvSpPr/>
          <p:nvPr/>
        </p:nvSpPr>
        <p:spPr>
          <a:xfrm>
            <a:off x="13574290" y="6511424"/>
            <a:ext cx="1605273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5" name="Shape 53"/>
          <p:cNvSpPr/>
          <p:nvPr/>
        </p:nvSpPr>
        <p:spPr>
          <a:xfrm>
            <a:off x="15179563" y="6511424"/>
            <a:ext cx="602819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6" name="Shape 54"/>
          <p:cNvSpPr/>
          <p:nvPr/>
        </p:nvSpPr>
        <p:spPr>
          <a:xfrm>
            <a:off x="15782382" y="6511424"/>
            <a:ext cx="1458127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7" name="Shape 55"/>
          <p:cNvSpPr/>
          <p:nvPr/>
        </p:nvSpPr>
        <p:spPr>
          <a:xfrm>
            <a:off x="1047750" y="6519706"/>
            <a:ext cx="16192500" cy="56140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047750" y="7072829"/>
            <a:ext cx="3806247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219200" y="6672106"/>
            <a:ext cx="3577534" cy="286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242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itdk_node_geolocation</a:t>
            </a:r>
            <a:endParaRPr lang="en-US" sz="2000" dirty="0"/>
          </a:p>
        </p:txBody>
      </p:sp>
      <p:sp>
        <p:nvSpPr>
          <p:cNvPr id="60" name="Shape 58"/>
          <p:cNvSpPr/>
          <p:nvPr/>
        </p:nvSpPr>
        <p:spPr>
          <a:xfrm>
            <a:off x="4853997" y="7072829"/>
            <a:ext cx="1065351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949247" y="6672106"/>
            <a:ext cx="798651" cy="286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4M</a:t>
            </a:r>
            <a:endParaRPr lang="en-US" sz="2400" b="1" dirty="0"/>
          </a:p>
        </p:txBody>
      </p:sp>
      <p:sp>
        <p:nvSpPr>
          <p:cNvPr id="62" name="Shape 60"/>
          <p:cNvSpPr/>
          <p:nvPr/>
        </p:nvSpPr>
        <p:spPr>
          <a:xfrm>
            <a:off x="5919347" y="7072829"/>
            <a:ext cx="1310852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995547" y="6672106"/>
            <a:ext cx="1158452" cy="286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43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2400" dirty="0"/>
          </a:p>
        </p:txBody>
      </p:sp>
      <p:sp>
        <p:nvSpPr>
          <p:cNvPr id="64" name="Shape 62"/>
          <p:cNvSpPr/>
          <p:nvPr/>
        </p:nvSpPr>
        <p:spPr>
          <a:xfrm>
            <a:off x="7230200" y="7072829"/>
            <a:ext cx="1310852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5" name="Shape 63"/>
          <p:cNvSpPr/>
          <p:nvPr/>
        </p:nvSpPr>
        <p:spPr>
          <a:xfrm>
            <a:off x="8541053" y="7072829"/>
            <a:ext cx="2635811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6" name="Shape 64"/>
          <p:cNvSpPr/>
          <p:nvPr/>
        </p:nvSpPr>
        <p:spPr>
          <a:xfrm>
            <a:off x="11176863" y="7072829"/>
            <a:ext cx="1086575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7" name="Shape 65"/>
          <p:cNvSpPr/>
          <p:nvPr/>
        </p:nvSpPr>
        <p:spPr>
          <a:xfrm>
            <a:off x="12263438" y="7072829"/>
            <a:ext cx="1310852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9" name="Shape 67"/>
          <p:cNvSpPr/>
          <p:nvPr/>
        </p:nvSpPr>
        <p:spPr>
          <a:xfrm>
            <a:off x="13574290" y="7072829"/>
            <a:ext cx="1605273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0" name="Text 68"/>
          <p:cNvSpPr/>
          <p:nvPr/>
        </p:nvSpPr>
        <p:spPr>
          <a:xfrm>
            <a:off x="12764831" y="6672106"/>
            <a:ext cx="1452873" cy="286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F54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IX</a:t>
            </a:r>
            <a:endParaRPr lang="en-US" sz="2400" dirty="0"/>
          </a:p>
        </p:txBody>
      </p:sp>
      <p:sp>
        <p:nvSpPr>
          <p:cNvPr id="71" name="Shape 69"/>
          <p:cNvSpPr/>
          <p:nvPr/>
        </p:nvSpPr>
        <p:spPr>
          <a:xfrm>
            <a:off x="15179563" y="7072829"/>
            <a:ext cx="602819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2" name="Shape 70"/>
          <p:cNvSpPr/>
          <p:nvPr/>
        </p:nvSpPr>
        <p:spPr>
          <a:xfrm>
            <a:off x="15782382" y="7072829"/>
            <a:ext cx="1458127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3" name="Shape 71"/>
          <p:cNvSpPr/>
          <p:nvPr/>
        </p:nvSpPr>
        <p:spPr>
          <a:xfrm>
            <a:off x="1047750" y="7634235"/>
            <a:ext cx="3806247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1219200" y="7233512"/>
            <a:ext cx="3577534" cy="286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242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v_itdk_ifaces_transit</a:t>
            </a:r>
            <a:endParaRPr lang="en-US" sz="2000" dirty="0"/>
          </a:p>
        </p:txBody>
      </p:sp>
      <p:sp>
        <p:nvSpPr>
          <p:cNvPr id="75" name="Shape 73"/>
          <p:cNvSpPr/>
          <p:nvPr/>
        </p:nvSpPr>
        <p:spPr>
          <a:xfrm>
            <a:off x="4853997" y="7634235"/>
            <a:ext cx="1065351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949247" y="7233512"/>
            <a:ext cx="798651" cy="286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3M</a:t>
            </a:r>
            <a:endParaRPr lang="en-US" sz="2400" b="1" dirty="0"/>
          </a:p>
        </p:txBody>
      </p:sp>
      <p:sp>
        <p:nvSpPr>
          <p:cNvPr id="77" name="Shape 75"/>
          <p:cNvSpPr/>
          <p:nvPr/>
        </p:nvSpPr>
        <p:spPr>
          <a:xfrm>
            <a:off x="5919347" y="7634235"/>
            <a:ext cx="1310852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5995547" y="7233512"/>
            <a:ext cx="1158452" cy="286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F54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IX</a:t>
            </a:r>
            <a:endParaRPr lang="en-US" sz="2400" dirty="0"/>
          </a:p>
        </p:txBody>
      </p:sp>
      <p:sp>
        <p:nvSpPr>
          <p:cNvPr id="79" name="Shape 77"/>
          <p:cNvSpPr/>
          <p:nvPr/>
        </p:nvSpPr>
        <p:spPr>
          <a:xfrm>
            <a:off x="7230200" y="7634235"/>
            <a:ext cx="1310852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0" name="Text 78"/>
          <p:cNvSpPr/>
          <p:nvPr/>
        </p:nvSpPr>
        <p:spPr>
          <a:xfrm>
            <a:off x="7306400" y="7233512"/>
            <a:ext cx="1158452" cy="2864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F54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IX</a:t>
            </a:r>
            <a:endParaRPr lang="en-US" sz="2400" dirty="0"/>
          </a:p>
        </p:txBody>
      </p:sp>
      <p:sp>
        <p:nvSpPr>
          <p:cNvPr id="81" name="Shape 79"/>
          <p:cNvSpPr/>
          <p:nvPr/>
        </p:nvSpPr>
        <p:spPr>
          <a:xfrm>
            <a:off x="8541053" y="7634235"/>
            <a:ext cx="2635811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2" name="Shape 80"/>
          <p:cNvSpPr/>
          <p:nvPr/>
        </p:nvSpPr>
        <p:spPr>
          <a:xfrm>
            <a:off x="11176863" y="7634235"/>
            <a:ext cx="1086575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3" name="Shape 81"/>
          <p:cNvSpPr/>
          <p:nvPr/>
        </p:nvSpPr>
        <p:spPr>
          <a:xfrm>
            <a:off x="12263438" y="7634235"/>
            <a:ext cx="1310852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4" name="Shape 82"/>
          <p:cNvSpPr/>
          <p:nvPr/>
        </p:nvSpPr>
        <p:spPr>
          <a:xfrm>
            <a:off x="13574290" y="7634235"/>
            <a:ext cx="1605273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5" name="Shape 83"/>
          <p:cNvSpPr/>
          <p:nvPr/>
        </p:nvSpPr>
        <p:spPr>
          <a:xfrm>
            <a:off x="15179563" y="7634235"/>
            <a:ext cx="602819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6" name="Shape 84"/>
          <p:cNvSpPr/>
          <p:nvPr/>
        </p:nvSpPr>
        <p:spPr>
          <a:xfrm>
            <a:off x="15782382" y="7634235"/>
            <a:ext cx="1458127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7" name="Shape 85"/>
          <p:cNvSpPr/>
          <p:nvPr/>
        </p:nvSpPr>
        <p:spPr>
          <a:xfrm>
            <a:off x="1047750" y="7642517"/>
            <a:ext cx="16192500" cy="55726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1219200" y="7794917"/>
            <a:ext cx="3577534" cy="290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242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itdk_router_hostnames</a:t>
            </a:r>
            <a:endParaRPr lang="en-US" sz="2000" dirty="0"/>
          </a:p>
        </p:txBody>
      </p:sp>
      <p:sp>
        <p:nvSpPr>
          <p:cNvPr id="89" name="Text 87"/>
          <p:cNvSpPr/>
          <p:nvPr/>
        </p:nvSpPr>
        <p:spPr>
          <a:xfrm>
            <a:off x="4949247" y="7794917"/>
            <a:ext cx="798651" cy="290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bg1">
                    <a:lumMod val="6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2M</a:t>
            </a:r>
            <a:endParaRPr lang="en-US" sz="2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0" name="Text 88"/>
          <p:cNvSpPr/>
          <p:nvPr/>
        </p:nvSpPr>
        <p:spPr>
          <a:xfrm>
            <a:off x="15255763" y="7794917"/>
            <a:ext cx="450419" cy="290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43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15858582" y="7794917"/>
            <a:ext cx="1305727" cy="290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43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PK·IX</a:t>
            </a:r>
            <a:endParaRPr lang="en-US" sz="2400" dirty="0"/>
          </a:p>
        </p:txBody>
      </p:sp>
      <p:sp>
        <p:nvSpPr>
          <p:cNvPr id="92" name="Text 90"/>
          <p:cNvSpPr/>
          <p:nvPr/>
        </p:nvSpPr>
        <p:spPr>
          <a:xfrm>
            <a:off x="1047750" y="8463919"/>
            <a:ext cx="327784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43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</a:t>
            </a:r>
            <a:endParaRPr lang="en-US" sz="1650" dirty="0"/>
          </a:p>
        </p:txBody>
      </p:sp>
      <p:sp>
        <p:nvSpPr>
          <p:cNvPr id="93" name="Text 91"/>
          <p:cNvSpPr/>
          <p:nvPr/>
        </p:nvSpPr>
        <p:spPr>
          <a:xfrm>
            <a:off x="1394584" y="8447354"/>
            <a:ext cx="1159045" cy="27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</a:t>
            </a:r>
            <a:endParaRPr lang="en-US" sz="1650" dirty="0"/>
          </a:p>
        </p:txBody>
      </p:sp>
      <p:sp>
        <p:nvSpPr>
          <p:cNvPr id="94" name="Text 92"/>
          <p:cNvSpPr/>
          <p:nvPr/>
        </p:nvSpPr>
        <p:spPr>
          <a:xfrm>
            <a:off x="2820358" y="8463919"/>
            <a:ext cx="327784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F54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IX</a:t>
            </a:r>
            <a:endParaRPr lang="en-US" sz="1650" dirty="0"/>
          </a:p>
        </p:txBody>
      </p:sp>
      <p:sp>
        <p:nvSpPr>
          <p:cNvPr id="95" name="Text 93"/>
          <p:cNvSpPr/>
          <p:nvPr/>
        </p:nvSpPr>
        <p:spPr>
          <a:xfrm>
            <a:off x="3167192" y="8447354"/>
            <a:ext cx="1602191" cy="27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index</a:t>
            </a:r>
            <a:endParaRPr lang="en-US" sz="1650" dirty="0"/>
          </a:p>
        </p:txBody>
      </p:sp>
      <p:sp>
        <p:nvSpPr>
          <p:cNvPr id="96" name="Text 94"/>
          <p:cNvSpPr/>
          <p:nvPr/>
        </p:nvSpPr>
        <p:spPr>
          <a:xfrm>
            <a:off x="5036085" y="8463919"/>
            <a:ext cx="705031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E43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PK·IX</a:t>
            </a:r>
            <a:endParaRPr lang="en-US" sz="1650" dirty="0"/>
          </a:p>
        </p:txBody>
      </p:sp>
      <p:sp>
        <p:nvSpPr>
          <p:cNvPr id="97" name="Text 95"/>
          <p:cNvSpPr/>
          <p:nvPr/>
        </p:nvSpPr>
        <p:spPr>
          <a:xfrm>
            <a:off x="5760166" y="8447354"/>
            <a:ext cx="1951304" cy="27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primary key</a:t>
            </a:r>
            <a:endParaRPr lang="en-US" sz="1650" dirty="0"/>
          </a:p>
        </p:txBody>
      </p:sp>
      <p:sp>
        <p:nvSpPr>
          <p:cNvPr id="98" name="Text 96"/>
          <p:cNvSpPr/>
          <p:nvPr/>
        </p:nvSpPr>
        <p:spPr>
          <a:xfrm>
            <a:off x="7978094" y="8455637"/>
            <a:ext cx="3594238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 = not indexed (forces a scan)</a:t>
            </a:r>
            <a:endParaRPr lang="en-US" sz="1650" dirty="0"/>
          </a:p>
        </p:txBody>
      </p:sp>
      <p:sp>
        <p:nvSpPr>
          <p:cNvPr id="99" name="Text 97"/>
          <p:cNvSpPr/>
          <p:nvPr/>
        </p:nvSpPr>
        <p:spPr>
          <a:xfrm>
            <a:off x="1047750" y="9453822"/>
            <a:ext cx="17811750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500" dirty="0"/>
          </a:p>
        </p:txBody>
      </p:sp>
      <p:sp>
        <p:nvSpPr>
          <p:cNvPr id="100" name="Text 4">
            <a:extLst>
              <a:ext uri="{FF2B5EF4-FFF2-40B4-BE49-F238E27FC236}">
                <a16:creationId xmlns:a16="http://schemas.microsoft.com/office/drawing/2014/main" id="{58266B51-9AD4-E311-A083-A880A835EAB8}"/>
              </a:ext>
            </a:extLst>
          </p:cNvPr>
          <p:cNvSpPr/>
          <p:nvPr/>
        </p:nvSpPr>
        <p:spPr>
          <a:xfrm>
            <a:off x="4796734" y="3351737"/>
            <a:ext cx="9507865" cy="1280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4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Index BAD!     </a:t>
            </a:r>
            <a:r>
              <a:rPr lang="en-US" sz="44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</a:t>
            </a:r>
            <a:r>
              <a:rPr lang="en-US" sz="4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4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GOOD!</a:t>
            </a:r>
            <a:endParaRPr lang="en-US" sz="4400" dirty="0">
              <a:solidFill>
                <a:srgbClr val="002060"/>
              </a:solidFill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526F05A-E81A-9223-6FE2-DCE19599BC4E}"/>
              </a:ext>
            </a:extLst>
          </p:cNvPr>
          <p:cNvSpPr txBox="1"/>
          <p:nvPr/>
        </p:nvSpPr>
        <p:spPr>
          <a:xfrm>
            <a:off x="12028431" y="4960920"/>
            <a:ext cx="3170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(country, longitude) 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4452368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64" dirty="0">
                <a:solidFill>
                  <a:srgbClr val="3F54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· QUERY PATTERNS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078292"/>
            <a:ext cx="4452368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151864" y="762000"/>
            <a:ext cx="1164587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E43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549495"/>
            <a:ext cx="17811750" cy="601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200" kern="0" spc="-42" dirty="0">
                <a:solidFill>
                  <a:srgbClr val="324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start from a full scan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47750" y="2265035"/>
            <a:ext cx="15500985" cy="849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22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itdk_link_endpoints alone is 14.2M rows / 1.5 GB. Filter or join on an indexed column first: node_id, asn, hostname, or link_id.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3362481"/>
            <a:ext cx="16192500" cy="5862793"/>
          </a:xfrm>
          <a:prstGeom prst="roundRect">
            <a:avLst>
              <a:gd name="adj" fmla="val 975"/>
            </a:avLst>
          </a:prstGeom>
          <a:solidFill>
            <a:srgbClr val="F8F9FA"/>
          </a:solidFill>
          <a:ln/>
          <a:effectLst>
            <a:outerShdw blurRad="38100" dist="9525" dir="5400000" algn="bl" rotWithShape="0">
              <a:srgbClr val="3F548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47750" y="9216991"/>
            <a:ext cx="161925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7750" y="3362481"/>
            <a:ext cx="16192500" cy="37272"/>
          </a:xfrm>
          <a:prstGeom prst="rect">
            <a:avLst/>
          </a:prstGeom>
          <a:solidFill>
            <a:srgbClr val="3F54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47750" y="3362481"/>
            <a:ext cx="9525" cy="5862793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231967" y="3362481"/>
            <a:ext cx="9525" cy="5862793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13129" y="4560353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level3_nodes </a:t>
            </a: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513129" y="4949635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le.link_id, le.node_id, g.latitude, g.longitude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513129" y="5338918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itdk_link_endpoints le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513129" y="5728200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itdk_node_as na  </a:t>
            </a: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le.node_id = na.node_id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513129" y="6117483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itdk_node_geolocation g </a:t>
            </a: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le.node_id = g.node_id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513129" y="6506766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875" b="1" dirty="0">
                <a:solidFill>
                  <a:srgbClr val="0758A7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875" dirty="0">
                <a:solidFill>
                  <a:srgbClr val="212529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75" b="1" dirty="0">
                <a:solidFill>
                  <a:srgbClr val="E43C29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na.asn = 3356 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875" i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indexed column, never a full scan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513129" y="6896048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056033" y="8445932"/>
            <a:ext cx="16175936" cy="77105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56033" y="8445932"/>
            <a:ext cx="16175936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513129" y="8705151"/>
            <a:ext cx="967124" cy="302315"/>
          </a:xfrm>
          <a:prstGeom prst="roundRect">
            <a:avLst>
              <a:gd name="adj" fmla="val 12603"/>
            </a:avLst>
          </a:prstGeom>
          <a:solidFill>
            <a:srgbClr val="3F54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27429" y="8752776"/>
            <a:ext cx="814724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11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1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2670753" y="8663739"/>
            <a:ext cx="12712795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Level3 (AS3356) × Netflix border routers. The asn filter seeks an index instead of reading all 14.2M endpoint rows.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47750" y="9453822"/>
            <a:ext cx="17811750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4452368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64" dirty="0">
                <a:solidFill>
                  <a:srgbClr val="3F54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· QUERY PATTERNS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078292"/>
            <a:ext cx="4452368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151864" y="762000"/>
            <a:ext cx="1164587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E43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549495"/>
            <a:ext cx="17811750" cy="601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200" kern="0" spc="-42" dirty="0">
                <a:solidFill>
                  <a:srgbClr val="324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indexes help left-to-right only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47750" y="2265035"/>
            <a:ext cx="15500985" cy="849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22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itdk_node_geolocation is indexed on (country, longitude). Filtering by country uses it; filtering by longitude alone does not.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3362481"/>
            <a:ext cx="16192500" cy="5862793"/>
          </a:xfrm>
          <a:prstGeom prst="roundRect">
            <a:avLst>
              <a:gd name="adj" fmla="val 975"/>
            </a:avLst>
          </a:prstGeom>
          <a:solidFill>
            <a:srgbClr val="F8F9FA"/>
          </a:solidFill>
          <a:ln/>
          <a:effectLst>
            <a:outerShdw blurRad="38100" dist="9525" dir="5400000" algn="bl" rotWithShape="0">
              <a:srgbClr val="3F548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47750" y="9216991"/>
            <a:ext cx="161925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7750" y="3362481"/>
            <a:ext cx="16192500" cy="37272"/>
          </a:xfrm>
          <a:prstGeom prst="rect">
            <a:avLst/>
          </a:prstGeom>
          <a:solidFill>
            <a:srgbClr val="3F54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47750" y="3362481"/>
            <a:ext cx="9525" cy="5862793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231967" y="3362481"/>
            <a:ext cx="9525" cy="5862793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13129" y="4222836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 </a:t>
            </a: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              </a:t>
            </a:r>
            <a:r>
              <a:rPr lang="en-US" sz="1875" i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West Coast China Unicom routers (slide 15)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513129" y="4612119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a.node_id, g.city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513129" y="5001402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itdk_node_as a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513129" y="5390684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itdk_node_geolocation g </a:t>
            </a: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g.node_id = a.node_id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513129" y="5779967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a.asn = 4837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513129" y="6169250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875" b="1" dirty="0">
                <a:solidFill>
                  <a:srgbClr val="0758A7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875" dirty="0">
                <a:solidFill>
                  <a:srgbClr val="212529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75" b="1" dirty="0">
                <a:solidFill>
                  <a:srgbClr val="E43C29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g.country = 'US' 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875" i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leading column: uses the index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513129" y="6558532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75" b="1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g.longitude &lt; -115   </a:t>
            </a:r>
            <a:r>
              <a:rPr lang="en-US" sz="1875" i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alone, this would not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513129" y="6947815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056033" y="8160182"/>
            <a:ext cx="16175936" cy="10568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56033" y="8160182"/>
            <a:ext cx="16175936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513129" y="8419401"/>
            <a:ext cx="967124" cy="302315"/>
          </a:xfrm>
          <a:prstGeom prst="roundRect">
            <a:avLst>
              <a:gd name="adj" fmla="val 12603"/>
            </a:avLst>
          </a:prstGeom>
          <a:solidFill>
            <a:srgbClr val="3F54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627429" y="8467026"/>
            <a:ext cx="814724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11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2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2670753" y="8377989"/>
            <a:ext cx="14527242" cy="667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Unicom (AS4837) on the US West Coast. country leads the composite index, so it does the work; a longitude-only filter would fall back to a scan.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47750" y="9453822"/>
            <a:ext cx="17811750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4452368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64" dirty="0">
                <a:solidFill>
                  <a:srgbClr val="3F54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· QUERY PATTERNS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078292"/>
            <a:ext cx="4452368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151864" y="762000"/>
            <a:ext cx="1164587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E43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549495"/>
            <a:ext cx="17811750" cy="601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200" kern="0" spc="-42" dirty="0">
                <a:solidFill>
                  <a:srgbClr val="324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outward from a small seed set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47750" y="2265035"/>
            <a:ext cx="16554450" cy="443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22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a few node_ids or a single ASN, then join outward. Never begin unfiltered.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2956633"/>
            <a:ext cx="16192500" cy="6268641"/>
          </a:xfrm>
          <a:prstGeom prst="roundRect">
            <a:avLst>
              <a:gd name="adj" fmla="val 912"/>
            </a:avLst>
          </a:prstGeom>
          <a:solidFill>
            <a:srgbClr val="F8F9FA"/>
          </a:solidFill>
          <a:ln/>
          <a:effectLst>
            <a:outerShdw blurRad="38100" dist="9525" dir="5400000" algn="bl" rotWithShape="0">
              <a:srgbClr val="3F548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47750" y="9216991"/>
            <a:ext cx="161925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7750" y="2956633"/>
            <a:ext cx="16192500" cy="37272"/>
          </a:xfrm>
          <a:prstGeom prst="rect">
            <a:avLst/>
          </a:prstGeom>
          <a:solidFill>
            <a:srgbClr val="3F54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47750" y="2956633"/>
            <a:ext cx="9525" cy="6268641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231967" y="2956633"/>
            <a:ext cx="9525" cy="6268641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13129" y="4262179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cu.node_id, e2.node_id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peer_node,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13129" y="4626614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a2.asn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peer_asn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13129" y="4991048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758A7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800" dirty="0">
                <a:solidFill>
                  <a:srgbClr val="212529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800" b="1" dirty="0">
                <a:solidFill>
                  <a:srgbClr val="E43C29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 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r>
              <a:rPr lang="en-US" sz="1800" i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 few dozen seed routers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13129" y="5355483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itdk_link_endpoints e1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e1.node_id = cu.node_id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13129" y="5719918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itdk_link_endpoints e2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e2.link_id = e1.link_id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13129" y="6084353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e2.node_id &lt;&gt; cu.node_id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13129" y="6448788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itdk_node_as a2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a2.node_id = e2.node_id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13129" y="6813223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a2.asn &lt;&gt; 4837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56033" y="8445932"/>
            <a:ext cx="16175936" cy="77105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56033" y="8445932"/>
            <a:ext cx="16175936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513129" y="8705151"/>
            <a:ext cx="967124" cy="302315"/>
          </a:xfrm>
          <a:prstGeom prst="roundRect">
            <a:avLst>
              <a:gd name="adj" fmla="val 12603"/>
            </a:avLst>
          </a:prstGeom>
          <a:solidFill>
            <a:srgbClr val="3F54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627429" y="8752776"/>
            <a:ext cx="814724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11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2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2670753" y="8663739"/>
            <a:ext cx="12397474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 seed drives everything. Links are walked outward from it, never enumerated across the whole table first.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47750" y="9453822"/>
            <a:ext cx="17811750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4452368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64" dirty="0">
                <a:solidFill>
                  <a:srgbClr val="3F54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· QUERY PATTERNS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078292"/>
            <a:ext cx="4452368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151864" y="762000"/>
            <a:ext cx="1164587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E43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549495"/>
            <a:ext cx="17811750" cy="601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200" kern="0" spc="-42" dirty="0">
                <a:solidFill>
                  <a:srgbClr val="324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cheap enrichment before you fan out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47750" y="2265035"/>
            <a:ext cx="16554450" cy="443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22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one-row-per-node tables onto the seed first; save the row-multiplying joins (links, interfaces) for last.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2956633"/>
            <a:ext cx="16192500" cy="6268641"/>
          </a:xfrm>
          <a:prstGeom prst="roundRect">
            <a:avLst>
              <a:gd name="adj" fmla="val 912"/>
            </a:avLst>
          </a:prstGeom>
          <a:solidFill>
            <a:srgbClr val="F8F9FA"/>
          </a:solidFill>
          <a:ln/>
          <a:effectLst>
            <a:outerShdw blurRad="38100" dist="9525" dir="5400000" algn="bl" rotWithShape="0">
              <a:srgbClr val="3F548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47750" y="9216991"/>
            <a:ext cx="161925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7750" y="2956633"/>
            <a:ext cx="16192500" cy="37272"/>
          </a:xfrm>
          <a:prstGeom prst="rect">
            <a:avLst/>
          </a:prstGeom>
          <a:solidFill>
            <a:srgbClr val="3F54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47750" y="2956633"/>
            <a:ext cx="9525" cy="6268641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231967" y="2956633"/>
            <a:ext cx="9525" cy="6268641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13129" y="4079961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le_as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               </a:t>
            </a:r>
            <a:r>
              <a:rPr lang="en-US" sz="1800" i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collapse to the grain first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13129" y="4444396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800" b="1" dirty="0">
                <a:solidFill>
                  <a:srgbClr val="0758A7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</a:t>
            </a:r>
            <a:r>
              <a:rPr lang="en-US" sz="1800" dirty="0">
                <a:solidFill>
                  <a:srgbClr val="212529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b="1" dirty="0">
                <a:solidFill>
                  <a:srgbClr val="E43C29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le.link_id, na.asn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13129" y="4808831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itdk_link_endpoints 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13129" y="5173266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itdk_node_as na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na.node_id = le.node_id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13129" y="5537700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na.asn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(174, 701, 1299, ...)   </a:t>
            </a:r>
            <a:r>
              <a:rPr lang="en-US" sz="1800" i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the 18 ASes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13129" y="5902136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13129" y="6266570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a.asn, b.asn,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link_count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13129" y="6631005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le_as 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13129" y="6995440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le_as b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b.link_id = a.link_id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a.asn &lt; b.asn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56033" y="8445932"/>
            <a:ext cx="16175936" cy="77105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56033" y="8445932"/>
            <a:ext cx="16175936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513129" y="8705151"/>
            <a:ext cx="967124" cy="302315"/>
          </a:xfrm>
          <a:prstGeom prst="roundRect">
            <a:avLst>
              <a:gd name="adj" fmla="val 12603"/>
            </a:avLst>
          </a:prstGeom>
          <a:solidFill>
            <a:srgbClr val="3F54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627429" y="8752776"/>
            <a:ext cx="814724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11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3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2670753" y="8663739"/>
            <a:ext cx="12508797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18-AS interconnection heatmap. Collapsing to distinct (link_id, asn) first keeps the row-multiplying self-join small.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47750" y="9453822"/>
            <a:ext cx="17811750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4452368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64" dirty="0">
                <a:solidFill>
                  <a:srgbClr val="3F54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· QUERY PATTERNS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078292"/>
            <a:ext cx="4452368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151864" y="762000"/>
            <a:ext cx="1164587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E43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549495"/>
            <a:ext cx="17811750" cy="601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200" kern="0" spc="-42" dirty="0">
                <a:solidFill>
                  <a:srgbClr val="324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small, then scale up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47750" y="2265035"/>
            <a:ext cx="15500985" cy="849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22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LIMIT while developing, and confirm with EXPLAIN / EXPLAIN ANALYZE that the query uses an index scan, not a sequential scan.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3362481"/>
            <a:ext cx="16192500" cy="5862793"/>
          </a:xfrm>
          <a:prstGeom prst="roundRect">
            <a:avLst>
              <a:gd name="adj" fmla="val 975"/>
            </a:avLst>
          </a:prstGeom>
          <a:solidFill>
            <a:srgbClr val="F8F9FA"/>
          </a:solidFill>
          <a:ln/>
          <a:effectLst>
            <a:outerShdw blurRad="38100" dist="9525" dir="5400000" algn="bl" rotWithShape="0">
              <a:srgbClr val="3F548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47750" y="9216991"/>
            <a:ext cx="161925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7750" y="3362481"/>
            <a:ext cx="16192500" cy="37272"/>
          </a:xfrm>
          <a:prstGeom prst="rect">
            <a:avLst/>
          </a:prstGeom>
          <a:solidFill>
            <a:srgbClr val="3F54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47750" y="3362481"/>
            <a:ext cx="9525" cy="5862793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231967" y="3362481"/>
            <a:ext cx="9525" cy="5862793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13129" y="4560353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i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while drafting: cap the output and read the plan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513129" y="5007614"/>
            <a:ext cx="2200417" cy="273326"/>
          </a:xfrm>
          <a:prstGeom prst="roundRect">
            <a:avLst>
              <a:gd name="adj" fmla="val 10455"/>
            </a:avLst>
          </a:prstGeom>
          <a:solidFill>
            <a:srgbClr val="E43C29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41704" y="5007614"/>
            <a:ext cx="2219467" cy="3114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b="1" dirty="0">
                <a:solidFill>
                  <a:srgbClr val="E43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ANALYZE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513129" y="5338918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a.asn, b.asn, </a:t>
            </a: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link_count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513129" y="5728200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le_as a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513129" y="6117483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le_as b </a:t>
            </a: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b.link_id = a.link_id </a:t>
            </a: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a.asn &lt; b.asn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513129" y="6506766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a.asn, b.asn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513129" y="6896048"/>
            <a:ext cx="15719595" cy="42738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6000"/>
              </a:lnSpc>
              <a:buNone/>
            </a:pPr>
            <a:r>
              <a:rPr lang="en-US" sz="1875" b="1" dirty="0">
                <a:solidFill>
                  <a:srgbClr val="0758A7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r>
              <a:rPr lang="en-US" sz="1875" dirty="0">
                <a:solidFill>
                  <a:srgbClr val="212529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75" b="1" dirty="0">
                <a:solidFill>
                  <a:srgbClr val="E43C29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</a:t>
            </a:r>
            <a:r>
              <a:rPr lang="en-US" sz="1875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          </a:t>
            </a:r>
            <a:r>
              <a:rPr lang="en-US" sz="1875" i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want "Index Scan", not "Seq Scan"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056033" y="8445932"/>
            <a:ext cx="16175936" cy="77105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56033" y="8445932"/>
            <a:ext cx="16175936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513129" y="8705151"/>
            <a:ext cx="1213273" cy="302315"/>
          </a:xfrm>
          <a:prstGeom prst="roundRect">
            <a:avLst>
              <a:gd name="adj" fmla="val 12603"/>
            </a:avLst>
          </a:prstGeom>
          <a:solidFill>
            <a:srgbClr val="6C75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627429" y="8752776"/>
            <a:ext cx="1060873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11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TASK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2916902" y="8663739"/>
            <a:ext cx="14900116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a draft in EXPLAIN ANALYZE and add LIMIT while iterating on the Task 3 query; remove both once the plan shows index scans.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47750" y="9453822"/>
            <a:ext cx="17811750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4452368" cy="278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264" dirty="0">
                <a:solidFill>
                  <a:srgbClr val="3F54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· QUERY PATTERNS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078292"/>
            <a:ext cx="4452368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6151864" y="762000"/>
            <a:ext cx="1164587" cy="29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kern="0" spc="144" dirty="0">
                <a:solidFill>
                  <a:srgbClr val="E43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549495"/>
            <a:ext cx="17811750" cy="601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200" kern="0" spc="-42" dirty="0">
                <a:solidFill>
                  <a:srgbClr val="3242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only the columns you need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47750" y="2265035"/>
            <a:ext cx="16554450" cy="443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2250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SELECT *. The endpoint and hostname tables carry rows you rarely need in full.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2956633"/>
            <a:ext cx="16192500" cy="6268641"/>
          </a:xfrm>
          <a:prstGeom prst="roundRect">
            <a:avLst>
              <a:gd name="adj" fmla="val 912"/>
            </a:avLst>
          </a:prstGeom>
          <a:solidFill>
            <a:srgbClr val="F8F9FA"/>
          </a:solidFill>
          <a:ln/>
          <a:effectLst>
            <a:outerShdw blurRad="38100" dist="9525" dir="5400000" algn="bl" rotWithShape="0">
              <a:srgbClr val="3F548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47750" y="9216991"/>
            <a:ext cx="16192500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7750" y="2956633"/>
            <a:ext cx="16192500" cy="37272"/>
          </a:xfrm>
          <a:prstGeom prst="rect">
            <a:avLst/>
          </a:prstGeom>
          <a:solidFill>
            <a:srgbClr val="3F54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47750" y="2956633"/>
            <a:ext cx="9525" cy="6268641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7231967" y="2956633"/>
            <a:ext cx="9525" cy="6268641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13129" y="4079961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13129" y="4444396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cu.node_id  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cu_node,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13129" y="4808831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cu.city     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cu_city,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13129" y="5173266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e2.node_id  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peer_node,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13129" y="5537700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a2.asn      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peer_asn,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13129" y="5902136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800" b="1" dirty="0">
                <a:solidFill>
                  <a:srgbClr val="E43C29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h.hostname</a:t>
            </a:r>
            <a:r>
              <a:rPr lang="en-US" sz="1800" dirty="0">
                <a:solidFill>
                  <a:srgbClr val="212529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800" b="1" dirty="0">
                <a:solidFill>
                  <a:srgbClr val="0758A7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800" dirty="0">
                <a:solidFill>
                  <a:srgbClr val="212529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b="1" dirty="0">
                <a:solidFill>
                  <a:srgbClr val="E43C29"/>
                </a:solidFill>
                <a:highlight>
                  <a:srgbClr val="FCECEA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peer_hostname 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800" i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five columns, not SELECT *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13129" y="6266570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13129" y="6631005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itdk_link_endpoints e1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e1.node_id = cu.node_id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13129" y="6995440"/>
            <a:ext cx="15719595" cy="40253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itdk_router_hostnames h </a:t>
            </a:r>
            <a:r>
              <a:rPr lang="en-US" sz="1800" b="1" dirty="0">
                <a:solidFill>
                  <a:srgbClr val="0758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800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h.ip = ...  </a:t>
            </a:r>
            <a:r>
              <a:rPr lang="en-US" sz="1800" i="1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wide table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56033" y="8445932"/>
            <a:ext cx="16175936" cy="77105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56033" y="8445932"/>
            <a:ext cx="16175936" cy="9525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513129" y="8705151"/>
            <a:ext cx="967124" cy="302315"/>
          </a:xfrm>
          <a:prstGeom prst="roundRect">
            <a:avLst>
              <a:gd name="adj" fmla="val 12603"/>
            </a:avLst>
          </a:prstGeom>
          <a:solidFill>
            <a:srgbClr val="3F54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627429" y="8752776"/>
            <a:ext cx="814724" cy="245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kern="0" spc="11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2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2670753" y="8663739"/>
            <a:ext cx="14476033" cy="352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endpoint and hostname tables are wide. Naming the five columns you use keeps result rows small and the LEFT JOIN cheap.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47750" y="9453822"/>
            <a:ext cx="17811750" cy="261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6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51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238250" y="2190750"/>
            <a:ext cx="809845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b="1" kern="0" spc="351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TWO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2565400"/>
            <a:ext cx="8098453" cy="2232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750" kern="0" spc="-3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750" dirty="0"/>
          </a:p>
        </p:txBody>
      </p:sp>
      <p:sp>
        <p:nvSpPr>
          <p:cNvPr id="7" name="Text 5"/>
          <p:cNvSpPr/>
          <p:nvPr/>
        </p:nvSpPr>
        <p:spPr>
          <a:xfrm>
            <a:off x="1238250" y="4613275"/>
            <a:ext cx="8098453" cy="67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4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tasks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38250" y="6222617"/>
            <a:ext cx="8098453" cy="4752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550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task asks, and the query pattern that answers it</a:t>
            </a:r>
            <a:endParaRPr lang="en-US" sz="25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582864-053E-D1A1-F72C-4ABFADE6E7E6}"/>
              </a:ext>
            </a:extLst>
          </p:cNvPr>
          <p:cNvSpPr txBox="1"/>
          <p:nvPr/>
        </p:nvSpPr>
        <p:spPr>
          <a:xfrm>
            <a:off x="4572000" y="4958023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52B591-7FA9-17E7-622B-AFE538F4E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9131" y="3851032"/>
            <a:ext cx="4238783" cy="41162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09403-AF14-6698-A4F0-80BEDB8B5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6297FB-347C-3B18-10DE-2C611E6D19AE}"/>
              </a:ext>
            </a:extLst>
          </p:cNvPr>
          <p:cNvSpPr/>
          <p:nvPr/>
        </p:nvSpPr>
        <p:spPr>
          <a:xfrm>
            <a:off x="13031589" y="876300"/>
            <a:ext cx="4419977" cy="32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63AE96-72E0-4C72-E53F-363E26B00F6E}"/>
              </a:ext>
            </a:extLst>
          </p:cNvPr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· TASK 1</a:t>
            </a:r>
            <a:endParaRPr lang="en-US" sz="19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6ACB3F-87DC-AB1A-1C6F-251F3D3F1564}"/>
              </a:ext>
            </a:extLst>
          </p:cNvPr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routers: Level3 × Netflix</a:t>
            </a:r>
            <a:endParaRPr lang="en-US" sz="46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E54C2FB-4F59-AC3B-BDB3-D55EA87DFE44}"/>
              </a:ext>
            </a:extLst>
          </p:cNvPr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308753-E41B-5032-BBB1-4C40A8560520}"/>
              </a:ext>
            </a:extLst>
          </p:cNvPr>
          <p:cNvSpPr txBox="1"/>
          <p:nvPr/>
        </p:nvSpPr>
        <p:spPr>
          <a:xfrm>
            <a:off x="2268764" y="3784055"/>
            <a:ext cx="1346472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Find locations where Level3 and Netflix interconnect at the same location. </a:t>
            </a:r>
          </a:p>
          <a:p>
            <a:pPr algn="ctr"/>
            <a:endParaRPr lang="en-US" sz="3600" dirty="0">
              <a:solidFill>
                <a:srgbClr val="000000"/>
              </a:solidFill>
              <a:latin typeface="-webkit-standard"/>
            </a:endParaRPr>
          </a:p>
          <a:p>
            <a:pPr algn="ctr"/>
            <a:r>
              <a:rPr lang="en-US" sz="3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This should revealing how major networks optimize their topology to minimize video streaming latency and manage high-traffic internet economics.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073032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31589" y="876300"/>
            <a:ext cx="4419977" cy="32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· DISTANCE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coordinates to kilometers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213009" y="3906937"/>
            <a:ext cx="8721566" cy="2874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333375" indent="-333375" algn="l">
              <a:lnSpc>
                <a:spcPct val="140000"/>
              </a:lnSpc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haversine(lat1, lon1, lat2, lon2)</a:t>
            </a: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notebook provides it — returns great-circle km.</a:t>
            </a:r>
            <a:endParaRPr lang="en-US" sz="2400" dirty="0"/>
          </a:p>
          <a:p>
            <a:pPr marL="333375" indent="-333375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calls a link geographically adjacent when its endpoints fall within 40 km: same metro area.</a:t>
            </a:r>
            <a:endParaRPr lang="en-US" sz="2400" dirty="0"/>
          </a:p>
          <a:p>
            <a:pPr marL="333375" indent="-333375" algn="l">
              <a:lnSpc>
                <a:spcPct val="140000"/>
              </a:lnSpc>
              <a:spcBef>
                <a:spcPts val="800"/>
              </a:spcBef>
              <a:buClr>
                <a:srgbClr val="2B5187"/>
              </a:buClr>
              <a:buFont typeface="Arial"/>
              <a:buChar char="▪"/>
            </a:pPr>
            <a:r>
              <a:rPr lang="en-US" sz="2400" dirty="0">
                <a:solidFill>
                  <a:srgbClr val="343A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distance usually means a geolocation error, not a long cable — check the two methods first.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012289" y="7587805"/>
            <a:ext cx="594805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r>
              <a:t>the 40 km threshold separates same-metro links from suspect ones</a:t>
            </a:r>
          </a:p>
        </p:txBody>
      </p:sp>
      <p:sp>
        <p:nvSpPr>
          <p:cNvPr id="13" name="Text 10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pic>
        <p:nvPicPr>
          <p:cNvPr id="900" name="B-c-havers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0" y="3906937"/>
            <a:ext cx="5905500" cy="350639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8F4506-3953-FC70-5FA0-84237363B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A0EE15-02B0-A965-AE91-81B8906AA9C8}"/>
              </a:ext>
            </a:extLst>
          </p:cNvPr>
          <p:cNvSpPr/>
          <p:nvPr/>
        </p:nvSpPr>
        <p:spPr>
          <a:xfrm>
            <a:off x="13031589" y="876300"/>
            <a:ext cx="4419977" cy="32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A06C9E-7B97-8ECC-BBB7-E4B322B4DD85}"/>
              </a:ext>
            </a:extLst>
          </p:cNvPr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· TASK 1</a:t>
            </a:r>
            <a:endParaRPr lang="en-US" sz="19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36FE28-396A-5072-9B3E-68B4E11BE31B}"/>
              </a:ext>
            </a:extLst>
          </p:cNvPr>
          <p:cNvSpPr/>
          <p:nvPr/>
        </p:nvSpPr>
        <p:spPr>
          <a:xfrm>
            <a:off x="1238250" y="1496568"/>
            <a:ext cx="17392650" cy="762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China Unicom (AS837) with Level 3 (AS3356) </a:t>
            </a:r>
            <a:endParaRPr lang="en-US" sz="46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A7D256F-D97D-188A-0142-00D608D99052}"/>
              </a:ext>
            </a:extLst>
          </p:cNvPr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CCF223-B554-D855-AAF4-AFE0DA24BF5E}"/>
              </a:ext>
            </a:extLst>
          </p:cNvPr>
          <p:cNvSpPr txBox="1"/>
          <p:nvPr/>
        </p:nvSpPr>
        <p:spPr>
          <a:xfrm>
            <a:off x="2449070" y="4350112"/>
            <a:ext cx="1305832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Find countries  where Level 3 and China Unicom have routers. </a:t>
            </a:r>
          </a:p>
          <a:p>
            <a:pPr algn="ctr"/>
            <a:endParaRPr lang="en-US" sz="3600" dirty="0">
              <a:solidFill>
                <a:srgbClr val="000000"/>
              </a:solidFill>
              <a:latin typeface="-webkit-standard"/>
            </a:endParaRPr>
          </a:p>
          <a:p>
            <a:pPr algn="ctr"/>
            <a:r>
              <a:rPr lang="en-US" sz="3600" dirty="0"/>
              <a:t>This highlights how differing market mandates and national boundaries shape regional infrastructure density versus a globally distributed Tier-1 architecture</a:t>
            </a:r>
          </a:p>
        </p:txBody>
      </p:sp>
    </p:spTree>
    <p:extLst>
      <p:ext uri="{BB962C8B-B14F-4D97-AF65-F5344CB8AC3E}">
        <p14:creationId xmlns:p14="http://schemas.microsoft.com/office/powerpoint/2010/main" val="3336920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61E9E2-09FA-09E7-B4E7-5D3A98D5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AD9160-33A2-2488-76DF-7236B77E7038}"/>
              </a:ext>
            </a:extLst>
          </p:cNvPr>
          <p:cNvSpPr/>
          <p:nvPr/>
        </p:nvSpPr>
        <p:spPr>
          <a:xfrm>
            <a:off x="13031589" y="876300"/>
            <a:ext cx="4419977" cy="32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2A4E4D-C417-6889-8EA8-F3BFEDA719BF}"/>
              </a:ext>
            </a:extLst>
          </p:cNvPr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· TASK 1</a:t>
            </a:r>
            <a:endParaRPr lang="en-US" sz="19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0E37D29-D6B1-91D1-2DDC-F690947D8403}"/>
              </a:ext>
            </a:extLst>
          </p:cNvPr>
          <p:cNvSpPr/>
          <p:nvPr/>
        </p:nvSpPr>
        <p:spPr>
          <a:xfrm>
            <a:off x="1238250" y="1496568"/>
            <a:ext cx="17392650" cy="762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China Unicom (AS837) with Level 3 (AS3356) </a:t>
            </a:r>
            <a:endParaRPr lang="en-US" sz="46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6E9F557-FEB9-EA48-BD2F-CC710C278918}"/>
              </a:ext>
            </a:extLst>
          </p:cNvPr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6E186B-310B-057D-7290-62CCEFF16209}"/>
              </a:ext>
            </a:extLst>
          </p:cNvPr>
          <p:cNvSpPr txBox="1"/>
          <p:nvPr/>
        </p:nvSpPr>
        <p:spPr>
          <a:xfrm>
            <a:off x="2449070" y="4350112"/>
            <a:ext cx="1305832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Where and with whom does China Unicom peer? </a:t>
            </a:r>
          </a:p>
          <a:p>
            <a:pPr algn="ctr"/>
            <a:endParaRPr lang="en-US" sz="3600" dirty="0">
              <a:solidFill>
                <a:srgbClr val="000000"/>
              </a:solidFill>
              <a:latin typeface="-webkit-standard"/>
            </a:endParaRPr>
          </a:p>
          <a:p>
            <a:pPr algn="ctr"/>
            <a:r>
              <a:rPr lang="en-US" sz="3600" dirty="0"/>
              <a:t>To analyze and compare the density and distribution of China Unicom's network infrastructure and peering relationships across major West Coast connectivity hubs.</a:t>
            </a:r>
          </a:p>
        </p:txBody>
      </p:sp>
    </p:spTree>
    <p:extLst>
      <p:ext uri="{BB962C8B-B14F-4D97-AF65-F5344CB8AC3E}">
        <p14:creationId xmlns:p14="http://schemas.microsoft.com/office/powerpoint/2010/main" val="1782518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F453C8-70C3-8FDD-F358-7F588FC28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B4B279-5BBB-4C58-AD23-B3C4D9CA335A}"/>
              </a:ext>
            </a:extLst>
          </p:cNvPr>
          <p:cNvSpPr/>
          <p:nvPr/>
        </p:nvSpPr>
        <p:spPr>
          <a:xfrm>
            <a:off x="13031589" y="876300"/>
            <a:ext cx="4419977" cy="32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BUILDING BLOCK 4 / 10</a:t>
            </a:r>
            <a:endParaRPr lang="en-US" sz="1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226919-233A-9D93-8727-8FBA750BF58F}"/>
              </a:ext>
            </a:extLst>
          </p:cNvPr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· TASK 1</a:t>
            </a:r>
            <a:endParaRPr lang="en-US" sz="19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118527E-0FDF-29D6-9CEF-888BF0AC23C3}"/>
              </a:ext>
            </a:extLst>
          </p:cNvPr>
          <p:cNvSpPr/>
          <p:nvPr/>
        </p:nvSpPr>
        <p:spPr>
          <a:xfrm>
            <a:off x="1238250" y="1496568"/>
            <a:ext cx="17392650" cy="762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sz="4650" kern="0" spc="-46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Cross-AS </a:t>
            </a: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Heat Map </a:t>
            </a:r>
            <a:endParaRPr lang="en-US" sz="46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587D5F9-9C7E-5FE6-0C30-733E7A5F3D57}"/>
              </a:ext>
            </a:extLst>
          </p:cNvPr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81712E-44C3-DA2F-02FA-2C296161F7D0}"/>
              </a:ext>
            </a:extLst>
          </p:cNvPr>
          <p:cNvSpPr txBox="1"/>
          <p:nvPr/>
        </p:nvSpPr>
        <p:spPr>
          <a:xfrm>
            <a:off x="1389527" y="5560666"/>
            <a:ext cx="87704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To analyze global Internet peering behavior, revealing how core backbone networks directly interconnect with massive content distributors to efficiently route internet traffic.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6B2A85-8D17-E3DB-91A2-02FC4C3AD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046" y="2882840"/>
            <a:ext cx="6040209" cy="53556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F758175-EABC-CF3E-F7DB-568E8A64AF83}"/>
              </a:ext>
            </a:extLst>
          </p:cNvPr>
          <p:cNvSpPr txBox="1"/>
          <p:nvPr/>
        </p:nvSpPr>
        <p:spPr>
          <a:xfrm>
            <a:off x="2110044" y="3821365"/>
            <a:ext cx="70236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Create a heat map of the interconnections between 18 ASNs</a:t>
            </a:r>
          </a:p>
        </p:txBody>
      </p:sp>
    </p:spTree>
    <p:extLst>
      <p:ext uri="{BB962C8B-B14F-4D97-AF65-F5344CB8AC3E}">
        <p14:creationId xmlns:p14="http://schemas.microsoft.com/office/powerpoint/2010/main" val="444750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2190750"/>
            <a:ext cx="102679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b="1" kern="0" spc="35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FOR SELF-STUDY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38250" y="2565400"/>
            <a:ext cx="10267950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750" kern="0" spc="-315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750" dirty="0"/>
          </a:p>
        </p:txBody>
      </p:sp>
      <p:sp>
        <p:nvSpPr>
          <p:cNvPr id="4" name="Text 2"/>
          <p:cNvSpPr/>
          <p:nvPr/>
        </p:nvSpPr>
        <p:spPr>
          <a:xfrm>
            <a:off x="1238250" y="4613275"/>
            <a:ext cx="9614535" cy="131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4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detail, not covered live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38250" y="6121996"/>
            <a:ext cx="9614535" cy="91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5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slides included so the deck stands on its own — reference, depth, derivations</a:t>
            </a:r>
            <a:endParaRPr lang="en-US" sz="25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38200"/>
            <a:ext cx="1065276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 kern="0" spc="273" dirty="0">
                <a:solidFill>
                  <a:srgbClr val="A9C2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GLOSSARY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38250" y="1496568"/>
            <a:ext cx="17392650" cy="652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50" kern="0" spc="-46" dirty="0">
                <a:solidFill>
                  <a:srgbClr val="2B5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terms and acronyms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238250" y="2313424"/>
            <a:ext cx="1739265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Advanced, program- or platform-specific terms only — alphabetical.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38250" y="9594850"/>
            <a:ext cx="4947126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Training Program · Summer 2026</a:t>
            </a:r>
            <a:endParaRPr lang="en-US" sz="2600" dirty="0"/>
          </a:p>
        </p:txBody>
      </p:sp>
      <p:sp>
        <p:nvSpPr>
          <p:cNvPr id="18" name="Glossary list"/>
          <p:cNvSpPr txBox="1"/>
          <p:nvPr/>
        </p:nvSpPr>
        <p:spPr>
          <a:xfrm>
            <a:off x="1238250" y="2814566"/>
            <a:ext cx="15819120" cy="3860000"/>
          </a:xfrm>
          <a:prstGeom prst="rect">
            <a:avLst/>
          </a:prstGeom>
          <a:noFill/>
        </p:spPr>
        <p:txBody>
          <a:bodyPr wrap="square" numCol="2" spcCol="502920" anchor="t">
            <a:noAutofit/>
          </a:bodyPr>
          <a:lstStyle/>
          <a:p>
            <a:pPr>
              <a:spcAft>
                <a:spcPts val="1600"/>
              </a:spcAft>
            </a:pPr>
            <a:r>
              <a:rPr sz="2600" b="1">
                <a:solidFill>
                  <a:srgbClr val="2B5187"/>
                </a:solidFill>
              </a:rPr>
              <a:t>crosstab  </a:t>
            </a:r>
            <a:r>
              <a:rPr sz="2200">
                <a:solidFill>
                  <a:srgbClr val="343A40"/>
                </a:solidFill>
              </a:rPr>
              <a:t>Pivoting rows into a two-way table — here, method × method counts.</a:t>
            </a:r>
          </a:p>
          <a:p>
            <a:pPr>
              <a:spcAft>
                <a:spcPts val="1600"/>
              </a:spcAft>
            </a:pPr>
            <a:r>
              <a:rPr sz="2600" b="1">
                <a:solidFill>
                  <a:srgbClr val="2B5187"/>
                </a:solidFill>
              </a:rPr>
              <a:t>DISTINCT  </a:t>
            </a:r>
            <a:r>
              <a:rPr sz="2200">
                <a:solidFill>
                  <a:srgbClr val="343A40"/>
                </a:solidFill>
              </a:rPr>
              <a:t>SQL keyword deduplicating result rows; collapses multi-interface links.</a:t>
            </a:r>
          </a:p>
          <a:p>
            <a:pPr>
              <a:spcAft>
                <a:spcPts val="1600"/>
              </a:spcAft>
            </a:pPr>
            <a:r>
              <a:rPr sz="2600" b="1">
                <a:solidFill>
                  <a:srgbClr val="2B5187"/>
                </a:solidFill>
              </a:rPr>
              <a:t>log1p  </a:t>
            </a:r>
            <a:r>
              <a:rPr sz="2200">
                <a:solidFill>
                  <a:srgbClr val="343A40"/>
                </a:solidFill>
              </a:rPr>
              <a:t>log(1 + x) — keeps zero and small counts visible on a log color scale.</a:t>
            </a:r>
          </a:p>
          <a:p>
            <a:pPr>
              <a:spcAft>
                <a:spcPts val="1600"/>
              </a:spcAft>
            </a:pPr>
            <a:r>
              <a:rPr sz="2600" b="1">
                <a:solidFill>
                  <a:srgbClr val="2B5187"/>
                </a:solidFill>
              </a:rPr>
              <a:t>NULL  </a:t>
            </a:r>
            <a:r>
              <a:rPr sz="2200">
                <a:solidFill>
                  <a:srgbClr val="343A40"/>
                </a:solidFill>
              </a:rPr>
              <a:t>SQL's missing value; joins produce it where a dropped placeholder sat.</a:t>
            </a:r>
          </a:p>
          <a:p>
            <a:pPr>
              <a:spcAft>
                <a:spcPts val="1600"/>
              </a:spcAft>
            </a:pPr>
            <a:r>
              <a:rPr sz="2600" b="1">
                <a:solidFill>
                  <a:srgbClr val="2B5187"/>
                </a:solidFill>
              </a:rPr>
              <a:t>schema  </a:t>
            </a:r>
            <a:r>
              <a:rPr sz="2200">
                <a:solidFill>
                  <a:srgbClr val="343A40"/>
                </a:solidFill>
              </a:rPr>
              <a:t>A named collection of tables in PostgreSQL — ours is caida_itdk.</a:t>
            </a:r>
          </a:p>
          <a:p>
            <a:pPr>
              <a:spcAft>
                <a:spcPts val="1600"/>
              </a:spcAft>
            </a:pPr>
            <a:r>
              <a:rPr sz="2600" b="1">
                <a:solidFill>
                  <a:srgbClr val="2B5187"/>
                </a:solidFill>
              </a:rPr>
              <a:t>self-join  </a:t>
            </a:r>
            <a:r>
              <a:rPr sz="2200">
                <a:solidFill>
                  <a:srgbClr val="343A40"/>
                </a:solidFill>
              </a:rPr>
              <a:t>Joining a table to itself; pairs the two endpoint rows of one link.</a:t>
            </a:r>
          </a:p>
          <a:p>
            <a:pPr>
              <a:spcAft>
                <a:spcPts val="1600"/>
              </a:spcAft>
            </a:pPr>
            <a:r>
              <a:rPr sz="2600" b="1">
                <a:solidFill>
                  <a:srgbClr val="2B5187"/>
                </a:solidFill>
              </a:rPr>
              <a:t>sslmode  </a:t>
            </a:r>
            <a:r>
              <a:rPr sz="2200">
                <a:solidFill>
                  <a:srgbClr val="343A40"/>
                </a:solidFill>
              </a:rPr>
              <a:t>Connection flag telling the Postgres driver to encrypt the session.</a:t>
            </a:r>
          </a:p>
          <a:p>
            <a:pPr>
              <a:spcAft>
                <a:spcPts val="1600"/>
              </a:spcAft>
            </a:pPr>
            <a:r>
              <a:rPr sz="2600" b="1">
                <a:solidFill>
                  <a:srgbClr val="2B5187"/>
                </a:solidFill>
              </a:rPr>
              <a:t>SQLAlchemy  </a:t>
            </a:r>
            <a:r>
              <a:rPr sz="2200">
                <a:solidFill>
                  <a:srgbClr val="343A40"/>
                </a:solidFill>
              </a:rPr>
              <a:t>Python database toolkit; pandas uses its engine to run our queries.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</TotalTime>
  <Words>3715</Words>
  <Application>Microsoft Office PowerPoint</Application>
  <PresentationFormat>Custom</PresentationFormat>
  <Paragraphs>391</Paragraphs>
  <Slides>29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-webkit-standard</vt:lpstr>
      <vt:lpstr>Arial</vt:lpstr>
      <vt:lpstr>Courier New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 Ma</cp:lastModifiedBy>
  <cp:revision>7</cp:revision>
  <dcterms:created xsi:type="dcterms:W3CDTF">2026-06-21T00:44:42Z</dcterms:created>
  <dcterms:modified xsi:type="dcterms:W3CDTF">2026-08-13T16:45:18Z</dcterms:modified>
</cp:coreProperties>
</file>